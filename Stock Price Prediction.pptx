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T Interphases Bold" charset="1" panose="02000803060000020004"/>
      <p:regular r:id="rId22"/>
    </p:embeddedFont>
    <p:embeddedFont>
      <p:font typeface="TT Interphases" charset="1" panose="02000503020000020004"/>
      <p:regular r:id="rId23"/>
    </p:embeddedFont>
    <p:embeddedFont>
      <p:font typeface="Canva Sans Bold" charset="1" panose="020B0803030501040103"/>
      <p:regular r:id="rId24"/>
    </p:embeddedFont>
    <p:embeddedFont>
      <p:font typeface="Canva Sans" charset="1" panose="020B0503030501040103"/>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3.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513439" y="4406158"/>
            <a:ext cx="19314877" cy="7585479"/>
          </a:xfrm>
          <a:custGeom>
            <a:avLst/>
            <a:gdLst/>
            <a:ahLst/>
            <a:cxnLst/>
            <a:rect r="r" b="b" t="t" l="l"/>
            <a:pathLst>
              <a:path h="7585479" w="19314877">
                <a:moveTo>
                  <a:pt x="0" y="0"/>
                </a:moveTo>
                <a:lnTo>
                  <a:pt x="19314878" y="0"/>
                </a:lnTo>
                <a:lnTo>
                  <a:pt x="19314878" y="7585479"/>
                </a:lnTo>
                <a:lnTo>
                  <a:pt x="0" y="7585479"/>
                </a:lnTo>
                <a:lnTo>
                  <a:pt x="0" y="0"/>
                </a:lnTo>
                <a:close/>
              </a:path>
            </a:pathLst>
          </a:custGeom>
          <a:blipFill>
            <a:blip r:embed="rId2"/>
            <a:stretch>
              <a:fillRect l="0" t="0" r="0" b="0"/>
            </a:stretch>
          </a:blipFill>
        </p:spPr>
      </p:sp>
      <p:sp>
        <p:nvSpPr>
          <p:cNvPr name="Freeform 3" id="3"/>
          <p:cNvSpPr/>
          <p:nvPr/>
        </p:nvSpPr>
        <p:spPr>
          <a:xfrm flipH="false" flipV="false" rot="0">
            <a:off x="11390734" y="3895857"/>
            <a:ext cx="4624705" cy="3254111"/>
          </a:xfrm>
          <a:custGeom>
            <a:avLst/>
            <a:gdLst/>
            <a:ahLst/>
            <a:cxnLst/>
            <a:rect r="r" b="b" t="t" l="l"/>
            <a:pathLst>
              <a:path h="3254111" w="4624705">
                <a:moveTo>
                  <a:pt x="0" y="0"/>
                </a:moveTo>
                <a:lnTo>
                  <a:pt x="4624705" y="0"/>
                </a:lnTo>
                <a:lnTo>
                  <a:pt x="4624705" y="3254111"/>
                </a:lnTo>
                <a:lnTo>
                  <a:pt x="0" y="32541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794407" y="3630487"/>
            <a:ext cx="10926277" cy="3302251"/>
          </a:xfrm>
          <a:prstGeom prst="rect">
            <a:avLst/>
          </a:prstGeom>
        </p:spPr>
        <p:txBody>
          <a:bodyPr anchor="t" rtlCol="false" tIns="0" lIns="0" bIns="0" rIns="0">
            <a:spAutoFit/>
          </a:bodyPr>
          <a:lstStyle/>
          <a:p>
            <a:pPr algn="l" marL="0" indent="0" lvl="0">
              <a:lnSpc>
                <a:spcPts val="12670"/>
              </a:lnSpc>
            </a:pPr>
            <a:r>
              <a:rPr lang="en-US" b="true" sz="12928">
                <a:solidFill>
                  <a:srgbClr val="FFFFFF"/>
                </a:solidFill>
                <a:latin typeface="TT Interphases Bold"/>
                <a:ea typeface="TT Interphases Bold"/>
                <a:cs typeface="TT Interphases Bold"/>
                <a:sym typeface="TT Interphases Bold"/>
              </a:rPr>
              <a:t>S</a:t>
            </a:r>
            <a:r>
              <a:rPr lang="en-US" b="true" sz="12928" strike="noStrike" u="none">
                <a:solidFill>
                  <a:srgbClr val="FFFFFF"/>
                </a:solidFill>
                <a:latin typeface="TT Interphases Bold"/>
                <a:ea typeface="TT Interphases Bold"/>
                <a:cs typeface="TT Interphases Bold"/>
                <a:sym typeface="TT Interphases Bold"/>
              </a:rPr>
              <a:t>T</a:t>
            </a:r>
            <a:r>
              <a:rPr lang="en-US" b="true" sz="12928" strike="noStrike" u="none">
                <a:solidFill>
                  <a:srgbClr val="FFFFFF"/>
                </a:solidFill>
                <a:latin typeface="TT Interphases Bold"/>
                <a:ea typeface="TT Interphases Bold"/>
                <a:cs typeface="TT Interphases Bold"/>
                <a:sym typeface="TT Interphases Bold"/>
              </a:rPr>
              <a:t>OCK PRICE PREDECTION</a:t>
            </a:r>
          </a:p>
        </p:txBody>
      </p:sp>
      <p:sp>
        <p:nvSpPr>
          <p:cNvPr name="TextBox 5" id="5"/>
          <p:cNvSpPr txBox="true"/>
          <p:nvPr/>
        </p:nvSpPr>
        <p:spPr>
          <a:xfrm rot="0">
            <a:off x="794407" y="8592908"/>
            <a:ext cx="6203704" cy="1002659"/>
          </a:xfrm>
          <a:prstGeom prst="rect">
            <a:avLst/>
          </a:prstGeom>
        </p:spPr>
        <p:txBody>
          <a:bodyPr anchor="t" rtlCol="false" tIns="0" lIns="0" bIns="0" rIns="0">
            <a:spAutoFit/>
          </a:bodyPr>
          <a:lstStyle/>
          <a:p>
            <a:pPr algn="r">
              <a:lnSpc>
                <a:spcPts val="4060"/>
              </a:lnSpc>
            </a:pPr>
            <a:r>
              <a:rPr lang="en-US" sz="2900" b="true">
                <a:solidFill>
                  <a:srgbClr val="FFFFFF"/>
                </a:solidFill>
                <a:latin typeface="TT Interphases Bold"/>
                <a:ea typeface="TT Interphases Bold"/>
                <a:cs typeface="TT Interphases Bold"/>
                <a:sym typeface="TT Interphases Bold"/>
              </a:rPr>
              <a:t> By: Vinay kumar kushwaha                 </a:t>
            </a:r>
          </a:p>
          <a:p>
            <a:pPr algn="r" marL="0" indent="0" lvl="0">
              <a:lnSpc>
                <a:spcPts val="4060"/>
              </a:lnSpc>
              <a:spcBef>
                <a:spcPct val="0"/>
              </a:spcBef>
            </a:pPr>
            <a:r>
              <a:rPr lang="en-US" b="true" sz="2900">
                <a:solidFill>
                  <a:srgbClr val="FFFFFF"/>
                </a:solidFill>
                <a:latin typeface="TT Interphases Bold"/>
                <a:ea typeface="TT Interphases Bold"/>
                <a:cs typeface="TT Interphases Bold"/>
                <a:sym typeface="TT Interphases Bold"/>
              </a:rPr>
              <a:t>Course: B.Tech/Computer Science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3346691">
            <a:off x="3380254" y="1922352"/>
            <a:ext cx="19314877" cy="7585479"/>
          </a:xfrm>
          <a:custGeom>
            <a:avLst/>
            <a:gdLst/>
            <a:ahLst/>
            <a:cxnLst/>
            <a:rect r="r" b="b" t="t" l="l"/>
            <a:pathLst>
              <a:path h="7585479" w="19314877">
                <a:moveTo>
                  <a:pt x="0" y="0"/>
                </a:moveTo>
                <a:lnTo>
                  <a:pt x="19314877" y="0"/>
                </a:lnTo>
                <a:lnTo>
                  <a:pt x="19314877" y="7585479"/>
                </a:lnTo>
                <a:lnTo>
                  <a:pt x="0" y="7585479"/>
                </a:lnTo>
                <a:lnTo>
                  <a:pt x="0" y="0"/>
                </a:lnTo>
                <a:close/>
              </a:path>
            </a:pathLst>
          </a:custGeom>
          <a:blipFill>
            <a:blip r:embed="rId2">
              <a:alphaModFix amt="70000"/>
            </a:blip>
            <a:stretch>
              <a:fillRect l="0" t="0" r="0" b="0"/>
            </a:stretch>
          </a:blipFill>
        </p:spPr>
      </p:sp>
      <p:sp>
        <p:nvSpPr>
          <p:cNvPr name="Freeform 3" id="3"/>
          <p:cNvSpPr/>
          <p:nvPr/>
        </p:nvSpPr>
        <p:spPr>
          <a:xfrm flipH="false" flipV="false" rot="0">
            <a:off x="9144000" y="1969294"/>
            <a:ext cx="6325327" cy="6348412"/>
          </a:xfrm>
          <a:custGeom>
            <a:avLst/>
            <a:gdLst/>
            <a:ahLst/>
            <a:cxnLst/>
            <a:rect r="r" b="b" t="t" l="l"/>
            <a:pathLst>
              <a:path h="6348412" w="6325327">
                <a:moveTo>
                  <a:pt x="0" y="0"/>
                </a:moveTo>
                <a:lnTo>
                  <a:pt x="6325327" y="0"/>
                </a:lnTo>
                <a:lnTo>
                  <a:pt x="6325327" y="6348412"/>
                </a:lnTo>
                <a:lnTo>
                  <a:pt x="0" y="63484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840712" y="4224351"/>
            <a:ext cx="6573591" cy="919480"/>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TT Interphases Bold"/>
                <a:ea typeface="TT Interphases Bold"/>
                <a:cs typeface="TT Interphases Bold"/>
                <a:sym typeface="TT Interphases Bold"/>
              </a:rPr>
              <a:t>Stock</a:t>
            </a:r>
            <a:r>
              <a:rPr lang="en-US" b="true" sz="6999" strike="noStrike" u="none">
                <a:solidFill>
                  <a:srgbClr val="FFFFFF"/>
                </a:solidFill>
                <a:latin typeface="TT Interphases Bold"/>
                <a:ea typeface="TT Interphases Bold"/>
                <a:cs typeface="TT Interphases Bold"/>
                <a:sym typeface="TT Interphases Bold"/>
              </a:rPr>
              <a:t> M</a:t>
            </a:r>
            <a:r>
              <a:rPr lang="en-US" b="true" sz="6999" strike="noStrike" u="none">
                <a:solidFill>
                  <a:srgbClr val="FFFFFF"/>
                </a:solidFill>
                <a:latin typeface="TT Interphases Bold"/>
                <a:ea typeface="TT Interphases Bold"/>
                <a:cs typeface="TT Interphases Bold"/>
                <a:sym typeface="TT Interphases Bold"/>
              </a:rPr>
              <a:t>arket?</a:t>
            </a:r>
          </a:p>
        </p:txBody>
      </p:sp>
      <p:sp>
        <p:nvSpPr>
          <p:cNvPr name="TextBox 5" id="5"/>
          <p:cNvSpPr txBox="true"/>
          <p:nvPr/>
        </p:nvSpPr>
        <p:spPr>
          <a:xfrm rot="0">
            <a:off x="1840712" y="3402026"/>
            <a:ext cx="2090979" cy="679450"/>
          </a:xfrm>
          <a:prstGeom prst="rect">
            <a:avLst/>
          </a:prstGeom>
        </p:spPr>
        <p:txBody>
          <a:bodyPr anchor="t" rtlCol="false" tIns="0" lIns="0" bIns="0" rIns="0">
            <a:spAutoFit/>
          </a:bodyPr>
          <a:lstStyle/>
          <a:p>
            <a:pPr algn="l" marL="0" indent="0" lvl="0">
              <a:lnSpc>
                <a:spcPts val="5599"/>
              </a:lnSpc>
              <a:spcBef>
                <a:spcPct val="0"/>
              </a:spcBef>
            </a:pPr>
            <a:r>
              <a:rPr lang="en-US" sz="3999">
                <a:solidFill>
                  <a:srgbClr val="FF6B57"/>
                </a:solidFill>
                <a:latin typeface="TT Interphases"/>
                <a:ea typeface="TT Interphases"/>
                <a:cs typeface="TT Interphases"/>
                <a:sym typeface="TT Interphases"/>
              </a:rPr>
              <a:t>What is</a:t>
            </a:r>
          </a:p>
        </p:txBody>
      </p:sp>
      <p:sp>
        <p:nvSpPr>
          <p:cNvPr name="TextBox 6" id="6"/>
          <p:cNvSpPr txBox="true"/>
          <p:nvPr/>
        </p:nvSpPr>
        <p:spPr>
          <a:xfrm rot="0">
            <a:off x="1840712" y="5355480"/>
            <a:ext cx="7054417" cy="2818079"/>
          </a:xfrm>
          <a:prstGeom prst="rect">
            <a:avLst/>
          </a:prstGeom>
        </p:spPr>
        <p:txBody>
          <a:bodyPr anchor="t" rtlCol="false" tIns="0" lIns="0" bIns="0" rIns="0">
            <a:spAutoFit/>
          </a:bodyPr>
          <a:lstStyle/>
          <a:p>
            <a:pPr algn="l">
              <a:lnSpc>
                <a:spcPts val="2837"/>
              </a:lnSpc>
            </a:pPr>
            <a:r>
              <a:rPr lang="en-US" sz="2026">
                <a:solidFill>
                  <a:srgbClr val="FFFFFF"/>
                </a:solidFill>
                <a:latin typeface="TT Interphases"/>
                <a:ea typeface="TT Interphases"/>
                <a:cs typeface="TT Interphases"/>
                <a:sym typeface="TT Interphases"/>
              </a:rPr>
              <a:t>Stock market price prediction means guessing the future price of a stock. Stock prices change every day based on company performance, news, and demand. In this project, we use past stock data to predict future prices. Machine learning models like LSTM help find patterns in the data.</a:t>
            </a:r>
          </a:p>
          <a:p>
            <a:pPr algn="l" marL="0" indent="0" lvl="0">
              <a:lnSpc>
                <a:spcPts val="2837"/>
              </a:lnSpc>
              <a:spcBef>
                <a:spcPct val="0"/>
              </a:spcBef>
            </a:pPr>
            <a:r>
              <a:rPr lang="en-US" sz="2026">
                <a:solidFill>
                  <a:srgbClr val="FFFFFF"/>
                </a:solidFill>
                <a:latin typeface="TT Interphases"/>
                <a:ea typeface="TT Interphases"/>
                <a:cs typeface="TT Interphases"/>
                <a:sym typeface="TT Interphases"/>
              </a:rPr>
              <a:t>The main goal is to help investors make better decisions and reduce risk.</a:t>
            </a:r>
          </a:p>
          <a:p>
            <a:pPr algn="l" marL="0" indent="0" lvl="0">
              <a:lnSpc>
                <a:spcPts val="2837"/>
              </a:lnSpc>
              <a:spcBef>
                <a:spcPct val="0"/>
              </a:spcBef>
            </a:pPr>
          </a:p>
        </p:txBody>
      </p:sp>
      <p:sp>
        <p:nvSpPr>
          <p:cNvPr name="TextBox 7" id="7"/>
          <p:cNvSpPr txBox="true"/>
          <p:nvPr/>
        </p:nvSpPr>
        <p:spPr>
          <a:xfrm rot="0">
            <a:off x="1840712" y="1622609"/>
            <a:ext cx="7627231" cy="826720"/>
          </a:xfrm>
          <a:prstGeom prst="rect">
            <a:avLst/>
          </a:prstGeom>
        </p:spPr>
        <p:txBody>
          <a:bodyPr anchor="t" rtlCol="false" tIns="0" lIns="0" bIns="0" rIns="0">
            <a:spAutoFit/>
          </a:bodyPr>
          <a:lstStyle/>
          <a:p>
            <a:pPr algn="l">
              <a:lnSpc>
                <a:spcPts val="6199"/>
              </a:lnSpc>
            </a:pPr>
            <a:r>
              <a:rPr lang="en-US" sz="6326" b="true">
                <a:solidFill>
                  <a:srgbClr val="FFFFFF"/>
                </a:solidFill>
                <a:latin typeface="TT Interphases Bold"/>
                <a:ea typeface="TT Interphases Bold"/>
                <a:cs typeface="TT Interphases Bold"/>
                <a:sym typeface="TT Interphases Bold"/>
              </a:rPr>
              <a:t>INTRODUCTION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951584">
            <a:off x="-2560492" y="-2327804"/>
            <a:ext cx="19314877" cy="7585479"/>
          </a:xfrm>
          <a:custGeom>
            <a:avLst/>
            <a:gdLst/>
            <a:ahLst/>
            <a:cxnLst/>
            <a:rect r="r" b="b" t="t" l="l"/>
            <a:pathLst>
              <a:path h="7585479" w="19314877">
                <a:moveTo>
                  <a:pt x="0" y="0"/>
                </a:moveTo>
                <a:lnTo>
                  <a:pt x="19314877" y="0"/>
                </a:lnTo>
                <a:lnTo>
                  <a:pt x="19314877" y="7585479"/>
                </a:lnTo>
                <a:lnTo>
                  <a:pt x="0" y="7585479"/>
                </a:lnTo>
                <a:lnTo>
                  <a:pt x="0" y="0"/>
                </a:lnTo>
                <a:close/>
              </a:path>
            </a:pathLst>
          </a:custGeom>
          <a:blipFill>
            <a:blip r:embed="rId2">
              <a:alphaModFix amt="70000"/>
            </a:blip>
            <a:stretch>
              <a:fillRect l="0" t="0" r="0" b="0"/>
            </a:stretch>
          </a:blipFill>
        </p:spPr>
      </p:sp>
      <p:sp>
        <p:nvSpPr>
          <p:cNvPr name="Freeform 3" id="3"/>
          <p:cNvSpPr/>
          <p:nvPr/>
        </p:nvSpPr>
        <p:spPr>
          <a:xfrm flipH="false" flipV="false" rot="0">
            <a:off x="319925" y="1276057"/>
            <a:ext cx="7734886" cy="7734886"/>
          </a:xfrm>
          <a:custGeom>
            <a:avLst/>
            <a:gdLst/>
            <a:ahLst/>
            <a:cxnLst/>
            <a:rect r="r" b="b" t="t" l="l"/>
            <a:pathLst>
              <a:path h="7734886" w="7734886">
                <a:moveTo>
                  <a:pt x="0" y="0"/>
                </a:moveTo>
                <a:lnTo>
                  <a:pt x="7734886" y="0"/>
                </a:lnTo>
                <a:lnTo>
                  <a:pt x="7734886" y="7734886"/>
                </a:lnTo>
                <a:lnTo>
                  <a:pt x="0" y="7734886"/>
                </a:lnTo>
                <a:lnTo>
                  <a:pt x="0" y="0"/>
                </a:lnTo>
                <a:close/>
              </a:path>
            </a:pathLst>
          </a:custGeom>
          <a:blipFill>
            <a:blip r:embed="rId3"/>
            <a:stretch>
              <a:fillRect l="0" t="0" r="0" b="0"/>
            </a:stretch>
          </a:blipFill>
        </p:spPr>
      </p:sp>
      <p:sp>
        <p:nvSpPr>
          <p:cNvPr name="TextBox 4" id="4"/>
          <p:cNvSpPr txBox="true"/>
          <p:nvPr/>
        </p:nvSpPr>
        <p:spPr>
          <a:xfrm rot="0">
            <a:off x="8801223" y="1973439"/>
            <a:ext cx="5480900" cy="1786255"/>
          </a:xfrm>
          <a:prstGeom prst="rect">
            <a:avLst/>
          </a:prstGeom>
        </p:spPr>
        <p:txBody>
          <a:bodyPr anchor="t" rtlCol="false" tIns="0" lIns="0" bIns="0" rIns="0">
            <a:spAutoFit/>
          </a:bodyPr>
          <a:lstStyle/>
          <a:p>
            <a:pPr algn="l">
              <a:lnSpc>
                <a:spcPts val="6859"/>
              </a:lnSpc>
            </a:pPr>
            <a:r>
              <a:rPr lang="en-US" sz="6999" b="true">
                <a:solidFill>
                  <a:srgbClr val="FFFFFF"/>
                </a:solidFill>
                <a:latin typeface="TT Interphases Bold"/>
                <a:ea typeface="TT Interphases Bold"/>
                <a:cs typeface="TT Interphases Bold"/>
                <a:sym typeface="TT Interphases Bold"/>
              </a:rPr>
              <a:t>PROBLEM</a:t>
            </a:r>
          </a:p>
          <a:p>
            <a:pPr algn="l" marL="0" indent="0" lvl="0">
              <a:lnSpc>
                <a:spcPts val="6859"/>
              </a:lnSpc>
            </a:pPr>
            <a:r>
              <a:rPr lang="en-US" b="true" sz="6999">
                <a:solidFill>
                  <a:srgbClr val="FFFFFF"/>
                </a:solidFill>
                <a:latin typeface="TT Interphases Bold"/>
                <a:ea typeface="TT Interphases Bold"/>
                <a:cs typeface="TT Interphases Bold"/>
                <a:sym typeface="TT Interphases Bold"/>
              </a:rPr>
              <a:t>STATEMENT</a:t>
            </a:r>
          </a:p>
        </p:txBody>
      </p:sp>
      <p:sp>
        <p:nvSpPr>
          <p:cNvPr name="TextBox 5" id="5"/>
          <p:cNvSpPr txBox="true"/>
          <p:nvPr/>
        </p:nvSpPr>
        <p:spPr>
          <a:xfrm rot="0">
            <a:off x="7872366" y="5528581"/>
            <a:ext cx="10030182" cy="3059926"/>
          </a:xfrm>
          <a:prstGeom prst="rect">
            <a:avLst/>
          </a:prstGeom>
        </p:spPr>
        <p:txBody>
          <a:bodyPr anchor="t" rtlCol="false" tIns="0" lIns="0" bIns="0" rIns="0">
            <a:spAutoFit/>
          </a:bodyPr>
          <a:lstStyle/>
          <a:p>
            <a:pPr algn="l" marL="627293" indent="-313646" lvl="1">
              <a:lnSpc>
                <a:spcPts val="4067"/>
              </a:lnSpc>
              <a:buFont typeface="Arial"/>
              <a:buChar char="•"/>
            </a:pPr>
            <a:r>
              <a:rPr lang="en-US" b="true" sz="2905">
                <a:solidFill>
                  <a:srgbClr val="FFFFFF"/>
                </a:solidFill>
                <a:latin typeface="TT Interphases Bold"/>
                <a:ea typeface="TT Interphases Bold"/>
                <a:cs typeface="TT Interphases Bold"/>
                <a:sym typeface="TT Interphases Bold"/>
              </a:rPr>
              <a:t>Predicting st</a:t>
            </a:r>
            <a:r>
              <a:rPr lang="en-US" b="true" sz="2905">
                <a:solidFill>
                  <a:srgbClr val="FFFFFF"/>
                </a:solidFill>
                <a:latin typeface="TT Interphases Bold"/>
                <a:ea typeface="TT Interphases Bold"/>
                <a:cs typeface="TT Interphases Bold"/>
                <a:sym typeface="TT Interphases Bold"/>
              </a:rPr>
              <a:t>ock market prices is very difficult.</a:t>
            </a:r>
          </a:p>
          <a:p>
            <a:pPr algn="l" marL="627293" indent="-313646" lvl="1">
              <a:lnSpc>
                <a:spcPts val="4067"/>
              </a:lnSpc>
              <a:buFont typeface="Arial"/>
              <a:buChar char="•"/>
            </a:pPr>
            <a:r>
              <a:rPr lang="en-US" b="true" sz="2905">
                <a:solidFill>
                  <a:srgbClr val="FFFFFF"/>
                </a:solidFill>
                <a:latin typeface="TT Interphases Bold"/>
                <a:ea typeface="TT Interphases Bold"/>
                <a:cs typeface="TT Interphases Bold"/>
                <a:sym typeface="TT Interphases Bold"/>
              </a:rPr>
              <a:t>Prices change continuously over time.</a:t>
            </a:r>
          </a:p>
          <a:p>
            <a:pPr algn="l" marL="627293" indent="-313646" lvl="1">
              <a:lnSpc>
                <a:spcPts val="4067"/>
              </a:lnSpc>
              <a:buFont typeface="Arial"/>
              <a:buChar char="•"/>
            </a:pPr>
            <a:r>
              <a:rPr lang="en-US" b="true" sz="2905">
                <a:solidFill>
                  <a:srgbClr val="FFFFFF"/>
                </a:solidFill>
                <a:latin typeface="TT Interphases Bold"/>
                <a:ea typeface="TT Interphases Bold"/>
                <a:cs typeface="TT Interphases Bold"/>
                <a:sym typeface="TT Interphases Bold"/>
              </a:rPr>
              <a:t>Manual prediction is not accurate.</a:t>
            </a:r>
          </a:p>
          <a:p>
            <a:pPr algn="l" marL="627293" indent="-313646" lvl="1">
              <a:lnSpc>
                <a:spcPts val="4067"/>
              </a:lnSpc>
              <a:buFont typeface="Arial"/>
              <a:buChar char="•"/>
            </a:pPr>
            <a:r>
              <a:rPr lang="en-US" b="true" sz="2905">
                <a:solidFill>
                  <a:srgbClr val="FFFFFF"/>
                </a:solidFill>
                <a:latin typeface="TT Interphases Bold"/>
                <a:ea typeface="TT Interphases Bold"/>
                <a:cs typeface="TT Interphases Bold"/>
                <a:sym typeface="TT Interphases Bold"/>
              </a:rPr>
              <a:t>Investors face problems in making the right decisions.</a:t>
            </a:r>
          </a:p>
          <a:p>
            <a:pPr algn="l">
              <a:lnSpc>
                <a:spcPts val="4067"/>
              </a:lnSpc>
            </a:pPr>
          </a:p>
          <a:p>
            <a:pPr algn="l">
              <a:lnSpc>
                <a:spcPts val="4067"/>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951584">
            <a:off x="-2653377" y="2494841"/>
            <a:ext cx="19314877" cy="7585479"/>
          </a:xfrm>
          <a:custGeom>
            <a:avLst/>
            <a:gdLst/>
            <a:ahLst/>
            <a:cxnLst/>
            <a:rect r="r" b="b" t="t" l="l"/>
            <a:pathLst>
              <a:path h="7585479" w="19314877">
                <a:moveTo>
                  <a:pt x="0" y="0"/>
                </a:moveTo>
                <a:lnTo>
                  <a:pt x="19314877" y="0"/>
                </a:lnTo>
                <a:lnTo>
                  <a:pt x="19314877" y="7585479"/>
                </a:lnTo>
                <a:lnTo>
                  <a:pt x="0" y="7585479"/>
                </a:lnTo>
                <a:lnTo>
                  <a:pt x="0" y="0"/>
                </a:lnTo>
                <a:close/>
              </a:path>
            </a:pathLst>
          </a:custGeom>
          <a:blipFill>
            <a:blip r:embed="rId2">
              <a:alphaModFix amt="70000"/>
            </a:blip>
            <a:stretch>
              <a:fillRect l="0" t="0" r="0" b="0"/>
            </a:stretch>
          </a:blipFill>
        </p:spPr>
      </p:sp>
      <p:sp>
        <p:nvSpPr>
          <p:cNvPr name="Freeform 3" id="3"/>
          <p:cNvSpPr/>
          <p:nvPr/>
        </p:nvSpPr>
        <p:spPr>
          <a:xfrm flipH="false" flipV="false" rot="0">
            <a:off x="9550699" y="2972114"/>
            <a:ext cx="8115300" cy="5406819"/>
          </a:xfrm>
          <a:custGeom>
            <a:avLst/>
            <a:gdLst/>
            <a:ahLst/>
            <a:cxnLst/>
            <a:rect r="r" b="b" t="t" l="l"/>
            <a:pathLst>
              <a:path h="5406819" w="8115300">
                <a:moveTo>
                  <a:pt x="0" y="0"/>
                </a:moveTo>
                <a:lnTo>
                  <a:pt x="8115300" y="0"/>
                </a:lnTo>
                <a:lnTo>
                  <a:pt x="8115300" y="5406819"/>
                </a:lnTo>
                <a:lnTo>
                  <a:pt x="0" y="5406819"/>
                </a:lnTo>
                <a:lnTo>
                  <a:pt x="0" y="0"/>
                </a:lnTo>
                <a:close/>
              </a:path>
            </a:pathLst>
          </a:custGeom>
          <a:blipFill>
            <a:blip r:embed="rId3"/>
            <a:stretch>
              <a:fillRect l="0" t="0" r="0" b="0"/>
            </a:stretch>
          </a:blipFill>
        </p:spPr>
      </p:sp>
      <p:sp>
        <p:nvSpPr>
          <p:cNvPr name="TextBox 4" id="4"/>
          <p:cNvSpPr txBox="true"/>
          <p:nvPr/>
        </p:nvSpPr>
        <p:spPr>
          <a:xfrm rot="0">
            <a:off x="1523162" y="1363715"/>
            <a:ext cx="5480900" cy="919480"/>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TT Interphases Bold"/>
                <a:ea typeface="TT Interphases Bold"/>
                <a:cs typeface="TT Interphases Bold"/>
                <a:sym typeface="TT Interphases Bold"/>
              </a:rPr>
              <a:t>SOLUTION</a:t>
            </a:r>
          </a:p>
        </p:txBody>
      </p:sp>
      <p:sp>
        <p:nvSpPr>
          <p:cNvPr name="TextBox 5" id="5"/>
          <p:cNvSpPr txBox="true"/>
          <p:nvPr/>
        </p:nvSpPr>
        <p:spPr>
          <a:xfrm rot="0">
            <a:off x="837312" y="3846900"/>
            <a:ext cx="6852599" cy="2545576"/>
          </a:xfrm>
          <a:prstGeom prst="rect">
            <a:avLst/>
          </a:prstGeom>
        </p:spPr>
        <p:txBody>
          <a:bodyPr anchor="t" rtlCol="false" tIns="0" lIns="0" bIns="0" rIns="0">
            <a:spAutoFit/>
          </a:bodyPr>
          <a:lstStyle/>
          <a:p>
            <a:pPr algn="l">
              <a:lnSpc>
                <a:spcPts val="4067"/>
              </a:lnSpc>
            </a:pPr>
            <a:r>
              <a:rPr lang="en-US" sz="2905" b="true">
                <a:solidFill>
                  <a:srgbClr val="FFFFFF"/>
                </a:solidFill>
                <a:latin typeface="TT Interphases Bold"/>
                <a:ea typeface="TT Interphases Bold"/>
                <a:cs typeface="TT Interphases Bold"/>
                <a:sym typeface="TT Interphases Bold"/>
              </a:rPr>
              <a:t>St</a:t>
            </a:r>
            <a:r>
              <a:rPr lang="en-US" b="true" sz="2905">
                <a:solidFill>
                  <a:srgbClr val="FFFFFF"/>
                </a:solidFill>
                <a:latin typeface="TT Interphases Bold"/>
                <a:ea typeface="TT Interphases Bold"/>
                <a:cs typeface="TT Interphases Bold"/>
                <a:sym typeface="TT Interphases Bold"/>
              </a:rPr>
              <a:t>ock market is very complex and prices change quickly, so it is difficult for people to make the right decision. Many investors do not have enough knowledge to analyze the market.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513439" y="5767185"/>
            <a:ext cx="19314877" cy="7585479"/>
          </a:xfrm>
          <a:custGeom>
            <a:avLst/>
            <a:gdLst/>
            <a:ahLst/>
            <a:cxnLst/>
            <a:rect r="r" b="b" t="t" l="l"/>
            <a:pathLst>
              <a:path h="7585479" w="19314877">
                <a:moveTo>
                  <a:pt x="19314878" y="0"/>
                </a:moveTo>
                <a:lnTo>
                  <a:pt x="0" y="0"/>
                </a:lnTo>
                <a:lnTo>
                  <a:pt x="0" y="7585479"/>
                </a:lnTo>
                <a:lnTo>
                  <a:pt x="19314878" y="7585479"/>
                </a:lnTo>
                <a:lnTo>
                  <a:pt x="19314878" y="0"/>
                </a:lnTo>
                <a:close/>
              </a:path>
            </a:pathLst>
          </a:custGeom>
          <a:blipFill>
            <a:blip r:embed="rId2">
              <a:alphaModFix amt="70000"/>
            </a:blip>
            <a:stretch>
              <a:fillRect l="0" t="0" r="0" b="0"/>
            </a:stretch>
          </a:blipFill>
        </p:spPr>
      </p:sp>
      <p:sp>
        <p:nvSpPr>
          <p:cNvPr name="Freeform 3" id="3"/>
          <p:cNvSpPr/>
          <p:nvPr/>
        </p:nvSpPr>
        <p:spPr>
          <a:xfrm flipH="true" flipV="false" rot="0">
            <a:off x="15639944" y="6452504"/>
            <a:ext cx="3688194" cy="2648794"/>
          </a:xfrm>
          <a:custGeom>
            <a:avLst/>
            <a:gdLst/>
            <a:ahLst/>
            <a:cxnLst/>
            <a:rect r="r" b="b" t="t" l="l"/>
            <a:pathLst>
              <a:path h="2648794" w="3688194">
                <a:moveTo>
                  <a:pt x="3688194" y="0"/>
                </a:moveTo>
                <a:lnTo>
                  <a:pt x="0" y="0"/>
                </a:lnTo>
                <a:lnTo>
                  <a:pt x="0" y="2648794"/>
                </a:lnTo>
                <a:lnTo>
                  <a:pt x="3688194" y="2648794"/>
                </a:lnTo>
                <a:lnTo>
                  <a:pt x="368819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19602" y="2170466"/>
            <a:ext cx="3688194" cy="2648794"/>
          </a:xfrm>
          <a:custGeom>
            <a:avLst/>
            <a:gdLst/>
            <a:ahLst/>
            <a:cxnLst/>
            <a:rect r="r" b="b" t="t" l="l"/>
            <a:pathLst>
              <a:path h="2648794" w="3688194">
                <a:moveTo>
                  <a:pt x="0" y="0"/>
                </a:moveTo>
                <a:lnTo>
                  <a:pt x="3688193" y="0"/>
                </a:lnTo>
                <a:lnTo>
                  <a:pt x="3688193" y="2648794"/>
                </a:lnTo>
                <a:lnTo>
                  <a:pt x="0" y="264879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278988" y="4487919"/>
            <a:ext cx="9447643" cy="2773173"/>
            <a:chOff x="0" y="0"/>
            <a:chExt cx="2488268" cy="730383"/>
          </a:xfrm>
        </p:grpSpPr>
        <p:sp>
          <p:nvSpPr>
            <p:cNvPr name="Freeform 6" id="6"/>
            <p:cNvSpPr/>
            <p:nvPr/>
          </p:nvSpPr>
          <p:spPr>
            <a:xfrm flipH="false" flipV="false" rot="0">
              <a:off x="0" y="0"/>
              <a:ext cx="2488268" cy="730383"/>
            </a:xfrm>
            <a:custGeom>
              <a:avLst/>
              <a:gdLst/>
              <a:ahLst/>
              <a:cxnLst/>
              <a:rect r="r" b="b" t="t" l="l"/>
              <a:pathLst>
                <a:path h="730383" w="2488268">
                  <a:moveTo>
                    <a:pt x="27861" y="0"/>
                  </a:moveTo>
                  <a:lnTo>
                    <a:pt x="2460407" y="0"/>
                  </a:lnTo>
                  <a:cubicBezTo>
                    <a:pt x="2475794" y="0"/>
                    <a:pt x="2488268" y="12474"/>
                    <a:pt x="2488268" y="27861"/>
                  </a:cubicBezTo>
                  <a:lnTo>
                    <a:pt x="2488268" y="702521"/>
                  </a:lnTo>
                  <a:cubicBezTo>
                    <a:pt x="2488268" y="709911"/>
                    <a:pt x="2485333" y="716997"/>
                    <a:pt x="2480108" y="722222"/>
                  </a:cubicBezTo>
                  <a:cubicBezTo>
                    <a:pt x="2474883" y="727448"/>
                    <a:pt x="2467796" y="730383"/>
                    <a:pt x="2460407" y="730383"/>
                  </a:cubicBezTo>
                  <a:lnTo>
                    <a:pt x="27861" y="730383"/>
                  </a:lnTo>
                  <a:cubicBezTo>
                    <a:pt x="12474" y="730383"/>
                    <a:pt x="0" y="717909"/>
                    <a:pt x="0" y="702521"/>
                  </a:cubicBezTo>
                  <a:lnTo>
                    <a:pt x="0" y="27861"/>
                  </a:lnTo>
                  <a:cubicBezTo>
                    <a:pt x="0" y="20472"/>
                    <a:pt x="2935" y="13385"/>
                    <a:pt x="8160" y="8160"/>
                  </a:cubicBezTo>
                  <a:cubicBezTo>
                    <a:pt x="13385" y="2935"/>
                    <a:pt x="20472" y="0"/>
                    <a:pt x="27861" y="0"/>
                  </a:cubicBezTo>
                  <a:close/>
                </a:path>
              </a:pathLst>
            </a:custGeom>
            <a:solidFill>
              <a:srgbClr val="000000">
                <a:alpha val="60000"/>
              </a:srgbClr>
            </a:solidFill>
            <a:ln w="19050" cap="rnd">
              <a:gradFill>
                <a:gsLst>
                  <a:gs pos="0">
                    <a:srgbClr val="000000">
                      <a:alpha val="60000"/>
                    </a:srgbClr>
                  </a:gs>
                  <a:gs pos="100000">
                    <a:srgbClr val="F66854">
                      <a:alpha val="60000"/>
                    </a:srgbClr>
                  </a:gs>
                </a:gsLst>
                <a:lin ang="0"/>
              </a:gradFill>
              <a:prstDash val="solid"/>
              <a:round/>
            </a:ln>
          </p:spPr>
        </p:sp>
        <p:sp>
          <p:nvSpPr>
            <p:cNvPr name="TextBox 7" id="7"/>
            <p:cNvSpPr txBox="true"/>
            <p:nvPr/>
          </p:nvSpPr>
          <p:spPr>
            <a:xfrm>
              <a:off x="0" y="-47625"/>
              <a:ext cx="2488268" cy="778008"/>
            </a:xfrm>
            <a:prstGeom prst="rect">
              <a:avLst/>
            </a:prstGeom>
          </p:spPr>
          <p:txBody>
            <a:bodyPr anchor="ctr" rtlCol="false" tIns="50800" lIns="50800" bIns="50800" rIns="50800"/>
            <a:lstStyle/>
            <a:p>
              <a:pPr algn="ctr">
                <a:lnSpc>
                  <a:spcPts val="2800"/>
                </a:lnSpc>
              </a:pPr>
            </a:p>
          </p:txBody>
        </p:sp>
      </p:grpSp>
      <p:sp>
        <p:nvSpPr>
          <p:cNvPr name="Freeform 8" id="8"/>
          <p:cNvSpPr/>
          <p:nvPr/>
        </p:nvSpPr>
        <p:spPr>
          <a:xfrm flipH="false" flipV="false" rot="0">
            <a:off x="10277175" y="1530098"/>
            <a:ext cx="7206866" cy="7728202"/>
          </a:xfrm>
          <a:custGeom>
            <a:avLst/>
            <a:gdLst/>
            <a:ahLst/>
            <a:cxnLst/>
            <a:rect r="r" b="b" t="t" l="l"/>
            <a:pathLst>
              <a:path h="7728202" w="7206866">
                <a:moveTo>
                  <a:pt x="0" y="0"/>
                </a:moveTo>
                <a:lnTo>
                  <a:pt x="7206866" y="0"/>
                </a:lnTo>
                <a:lnTo>
                  <a:pt x="7206866" y="7728202"/>
                </a:lnTo>
                <a:lnTo>
                  <a:pt x="0" y="7728202"/>
                </a:lnTo>
                <a:lnTo>
                  <a:pt x="0" y="0"/>
                </a:lnTo>
                <a:close/>
              </a:path>
            </a:pathLst>
          </a:custGeom>
          <a:blipFill>
            <a:blip r:embed="rId5"/>
            <a:stretch>
              <a:fillRect l="-5214" t="0" r="-2019" b="0"/>
            </a:stretch>
          </a:blipFill>
        </p:spPr>
      </p:sp>
      <p:sp>
        <p:nvSpPr>
          <p:cNvPr name="TextBox 9" id="9"/>
          <p:cNvSpPr txBox="true"/>
          <p:nvPr/>
        </p:nvSpPr>
        <p:spPr>
          <a:xfrm rot="0">
            <a:off x="3548229" y="2106404"/>
            <a:ext cx="6573591" cy="919480"/>
          </a:xfrm>
          <a:prstGeom prst="rect">
            <a:avLst/>
          </a:prstGeom>
        </p:spPr>
        <p:txBody>
          <a:bodyPr anchor="t" rtlCol="false" tIns="0" lIns="0" bIns="0" rIns="0">
            <a:spAutoFit/>
          </a:bodyPr>
          <a:lstStyle/>
          <a:p>
            <a:pPr algn="l">
              <a:lnSpc>
                <a:spcPts val="6859"/>
              </a:lnSpc>
            </a:pPr>
            <a:r>
              <a:rPr lang="en-US" sz="6999" b="true">
                <a:solidFill>
                  <a:srgbClr val="FFFFFF"/>
                </a:solidFill>
                <a:latin typeface="TT Interphases Bold"/>
                <a:ea typeface="TT Interphases Bold"/>
                <a:cs typeface="TT Interphases Bold"/>
                <a:sym typeface="TT Interphases Bold"/>
              </a:rPr>
              <a:t>OBJECTIVE</a:t>
            </a:r>
          </a:p>
        </p:txBody>
      </p:sp>
      <p:sp>
        <p:nvSpPr>
          <p:cNvPr name="TextBox 10" id="10"/>
          <p:cNvSpPr txBox="true"/>
          <p:nvPr/>
        </p:nvSpPr>
        <p:spPr>
          <a:xfrm rot="0">
            <a:off x="1299819" y="4671711"/>
            <a:ext cx="9054028" cy="2255550"/>
          </a:xfrm>
          <a:prstGeom prst="rect">
            <a:avLst/>
          </a:prstGeom>
        </p:spPr>
        <p:txBody>
          <a:bodyPr anchor="t" rtlCol="false" tIns="0" lIns="0" bIns="0" rIns="0">
            <a:spAutoFit/>
          </a:bodyPr>
          <a:lstStyle/>
          <a:p>
            <a:pPr algn="l" marL="702059" indent="-351029" lvl="1">
              <a:lnSpc>
                <a:spcPts val="4552"/>
              </a:lnSpc>
              <a:buFont typeface="Arial"/>
              <a:buChar char="•"/>
            </a:pPr>
            <a:r>
              <a:rPr lang="en-US" b="true" sz="3251">
                <a:solidFill>
                  <a:srgbClr val="FFFFFF"/>
                </a:solidFill>
                <a:latin typeface="TT Interphases Bold"/>
                <a:ea typeface="TT Interphases Bold"/>
                <a:cs typeface="TT Interphases Bold"/>
                <a:sym typeface="TT Interphases Bold"/>
              </a:rPr>
              <a:t>To Predict future stock prices</a:t>
            </a:r>
          </a:p>
          <a:p>
            <a:pPr algn="l" marL="702059" indent="-351029" lvl="1">
              <a:lnSpc>
                <a:spcPts val="4552"/>
              </a:lnSpc>
              <a:buFont typeface="Arial"/>
              <a:buChar char="•"/>
            </a:pPr>
            <a:r>
              <a:rPr lang="en-US" b="true" sz="3251">
                <a:solidFill>
                  <a:srgbClr val="FFFFFF"/>
                </a:solidFill>
                <a:latin typeface="TT Interphases Bold"/>
                <a:ea typeface="TT Interphases Bold"/>
                <a:cs typeface="TT Interphases Bold"/>
                <a:sym typeface="TT Interphases Bold"/>
              </a:rPr>
              <a:t>To help in decision making</a:t>
            </a:r>
          </a:p>
          <a:p>
            <a:pPr algn="l" marL="702059" indent="-351029" lvl="1">
              <a:lnSpc>
                <a:spcPts val="4552"/>
              </a:lnSpc>
              <a:buFont typeface="Arial"/>
              <a:buChar char="•"/>
            </a:pPr>
            <a:r>
              <a:rPr lang="en-US" b="true" sz="3251">
                <a:solidFill>
                  <a:srgbClr val="FFFFFF"/>
                </a:solidFill>
                <a:latin typeface="TT Interphases Bold"/>
                <a:ea typeface="TT Interphases Bold"/>
                <a:cs typeface="TT Interphases Bold"/>
                <a:sym typeface="TT Interphases Bold"/>
              </a:rPr>
              <a:t>To plan in advance</a:t>
            </a:r>
          </a:p>
          <a:p>
            <a:pPr algn="l" marL="702059" indent="-351029" lvl="1">
              <a:lnSpc>
                <a:spcPts val="4552"/>
              </a:lnSpc>
              <a:buFont typeface="Arial"/>
              <a:buChar char="•"/>
            </a:pPr>
            <a:r>
              <a:rPr lang="en-US" b="true" sz="3251">
                <a:solidFill>
                  <a:srgbClr val="FFFFFF"/>
                </a:solidFill>
                <a:latin typeface="TT Interphases Bold"/>
                <a:ea typeface="TT Interphases Bold"/>
                <a:cs typeface="TT Interphases Bold"/>
                <a:sym typeface="TT Interphases Bold"/>
              </a:rPr>
              <a:t>To assist in better Buy/Sell decisions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513439" y="3580255"/>
            <a:ext cx="19314877" cy="7585479"/>
          </a:xfrm>
          <a:custGeom>
            <a:avLst/>
            <a:gdLst/>
            <a:ahLst/>
            <a:cxnLst/>
            <a:rect r="r" b="b" t="t" l="l"/>
            <a:pathLst>
              <a:path h="7585479" w="19314877">
                <a:moveTo>
                  <a:pt x="0" y="0"/>
                </a:moveTo>
                <a:lnTo>
                  <a:pt x="19314878" y="0"/>
                </a:lnTo>
                <a:lnTo>
                  <a:pt x="19314878" y="7585479"/>
                </a:lnTo>
                <a:lnTo>
                  <a:pt x="0" y="7585479"/>
                </a:lnTo>
                <a:lnTo>
                  <a:pt x="0" y="0"/>
                </a:lnTo>
                <a:close/>
              </a:path>
            </a:pathLst>
          </a:custGeom>
          <a:blipFill>
            <a:blip r:embed="rId2">
              <a:alphaModFix amt="70000"/>
            </a:blip>
            <a:stretch>
              <a:fillRect l="0" t="0" r="0" b="0"/>
            </a:stretch>
          </a:blipFill>
        </p:spPr>
      </p:sp>
      <p:grpSp>
        <p:nvGrpSpPr>
          <p:cNvPr name="Group 3" id="3"/>
          <p:cNvGrpSpPr/>
          <p:nvPr/>
        </p:nvGrpSpPr>
        <p:grpSpPr>
          <a:xfrm rot="0">
            <a:off x="3304325" y="4001516"/>
            <a:ext cx="2047341" cy="3086100"/>
            <a:chOff x="0" y="0"/>
            <a:chExt cx="539217" cy="812800"/>
          </a:xfrm>
        </p:grpSpPr>
        <p:sp>
          <p:nvSpPr>
            <p:cNvPr name="Freeform 4" id="4"/>
            <p:cNvSpPr/>
            <p:nvPr/>
          </p:nvSpPr>
          <p:spPr>
            <a:xfrm flipH="false" flipV="false" rot="0">
              <a:off x="0" y="0"/>
              <a:ext cx="539217" cy="812800"/>
            </a:xfrm>
            <a:custGeom>
              <a:avLst/>
              <a:gdLst/>
              <a:ahLst/>
              <a:cxnLst/>
              <a:rect r="r" b="b" t="t" l="l"/>
              <a:pathLst>
                <a:path h="812800" w="539217">
                  <a:moveTo>
                    <a:pt x="128569" y="0"/>
                  </a:moveTo>
                  <a:lnTo>
                    <a:pt x="410648" y="0"/>
                  </a:lnTo>
                  <a:cubicBezTo>
                    <a:pt x="481655" y="0"/>
                    <a:pt x="539217" y="57562"/>
                    <a:pt x="539217" y="128569"/>
                  </a:cubicBezTo>
                  <a:lnTo>
                    <a:pt x="539217" y="684231"/>
                  </a:lnTo>
                  <a:cubicBezTo>
                    <a:pt x="539217" y="718329"/>
                    <a:pt x="525672" y="751031"/>
                    <a:pt x="501560" y="775143"/>
                  </a:cubicBezTo>
                  <a:cubicBezTo>
                    <a:pt x="477449" y="799254"/>
                    <a:pt x="444747" y="812800"/>
                    <a:pt x="410648" y="812800"/>
                  </a:cubicBezTo>
                  <a:lnTo>
                    <a:pt x="128569" y="812800"/>
                  </a:lnTo>
                  <a:cubicBezTo>
                    <a:pt x="94471" y="812800"/>
                    <a:pt x="61769" y="799254"/>
                    <a:pt x="37657" y="775143"/>
                  </a:cubicBezTo>
                  <a:cubicBezTo>
                    <a:pt x="13546" y="751031"/>
                    <a:pt x="0" y="718329"/>
                    <a:pt x="0" y="684231"/>
                  </a:cubicBezTo>
                  <a:lnTo>
                    <a:pt x="0" y="128569"/>
                  </a:lnTo>
                  <a:cubicBezTo>
                    <a:pt x="0" y="94471"/>
                    <a:pt x="13546" y="61769"/>
                    <a:pt x="37657" y="37657"/>
                  </a:cubicBezTo>
                  <a:cubicBezTo>
                    <a:pt x="61769" y="13546"/>
                    <a:pt x="94471" y="0"/>
                    <a:pt x="128569" y="0"/>
                  </a:cubicBezTo>
                  <a:close/>
                </a:path>
              </a:pathLst>
            </a:custGeom>
            <a:solidFill>
              <a:srgbClr val="000000">
                <a:alpha val="60000"/>
              </a:srgbClr>
            </a:solidFill>
          </p:spPr>
        </p:sp>
        <p:sp>
          <p:nvSpPr>
            <p:cNvPr name="TextBox 5" id="5"/>
            <p:cNvSpPr txBox="true"/>
            <p:nvPr/>
          </p:nvSpPr>
          <p:spPr>
            <a:xfrm>
              <a:off x="0" y="-47625"/>
              <a:ext cx="539217" cy="860425"/>
            </a:xfrm>
            <a:prstGeom prst="rect">
              <a:avLst/>
            </a:prstGeom>
          </p:spPr>
          <p:txBody>
            <a:bodyPr anchor="ctr" rtlCol="false" tIns="50800" lIns="50800" bIns="50800" rIns="50800"/>
            <a:lstStyle/>
            <a:p>
              <a:pPr algn="ctr">
                <a:lnSpc>
                  <a:spcPts val="2800"/>
                </a:lnSpc>
              </a:pPr>
            </a:p>
          </p:txBody>
        </p:sp>
      </p:grpSp>
      <p:sp>
        <p:nvSpPr>
          <p:cNvPr name="AutoShape 6" id="6"/>
          <p:cNvSpPr/>
          <p:nvPr/>
        </p:nvSpPr>
        <p:spPr>
          <a:xfrm flipH="true">
            <a:off x="3434565" y="6321911"/>
            <a:ext cx="1786861" cy="0"/>
          </a:xfrm>
          <a:prstGeom prst="line">
            <a:avLst/>
          </a:prstGeom>
          <a:ln cap="flat" w="38100">
            <a:gradFill>
              <a:gsLst>
                <a:gs pos="0">
                  <a:srgbClr val="000000">
                    <a:alpha val="0"/>
                  </a:srgbClr>
                </a:gs>
                <a:gs pos="50000">
                  <a:srgbClr val="F66854">
                    <a:alpha val="100000"/>
                  </a:srgbClr>
                </a:gs>
                <a:gs pos="100000">
                  <a:srgbClr val="000000">
                    <a:alpha val="0"/>
                  </a:srgbClr>
                </a:gs>
              </a:gsLst>
              <a:lin ang="0"/>
            </a:gradFill>
            <a:prstDash val="solid"/>
            <a:headEnd type="none" len="sm" w="sm"/>
            <a:tailEnd type="none" len="sm" w="sm"/>
          </a:ln>
        </p:spPr>
      </p:sp>
      <p:grpSp>
        <p:nvGrpSpPr>
          <p:cNvPr name="Group 7" id="7"/>
          <p:cNvGrpSpPr/>
          <p:nvPr/>
        </p:nvGrpSpPr>
        <p:grpSpPr>
          <a:xfrm rot="0">
            <a:off x="5712327" y="4001516"/>
            <a:ext cx="2047341" cy="3086100"/>
            <a:chOff x="0" y="0"/>
            <a:chExt cx="539217" cy="812800"/>
          </a:xfrm>
        </p:grpSpPr>
        <p:sp>
          <p:nvSpPr>
            <p:cNvPr name="Freeform 8" id="8"/>
            <p:cNvSpPr/>
            <p:nvPr/>
          </p:nvSpPr>
          <p:spPr>
            <a:xfrm flipH="false" flipV="false" rot="0">
              <a:off x="0" y="0"/>
              <a:ext cx="539217" cy="812800"/>
            </a:xfrm>
            <a:custGeom>
              <a:avLst/>
              <a:gdLst/>
              <a:ahLst/>
              <a:cxnLst/>
              <a:rect r="r" b="b" t="t" l="l"/>
              <a:pathLst>
                <a:path h="812800" w="539217">
                  <a:moveTo>
                    <a:pt x="128569" y="0"/>
                  </a:moveTo>
                  <a:lnTo>
                    <a:pt x="410648" y="0"/>
                  </a:lnTo>
                  <a:cubicBezTo>
                    <a:pt x="481655" y="0"/>
                    <a:pt x="539217" y="57562"/>
                    <a:pt x="539217" y="128569"/>
                  </a:cubicBezTo>
                  <a:lnTo>
                    <a:pt x="539217" y="684231"/>
                  </a:lnTo>
                  <a:cubicBezTo>
                    <a:pt x="539217" y="718329"/>
                    <a:pt x="525672" y="751031"/>
                    <a:pt x="501560" y="775143"/>
                  </a:cubicBezTo>
                  <a:cubicBezTo>
                    <a:pt x="477449" y="799254"/>
                    <a:pt x="444747" y="812800"/>
                    <a:pt x="410648" y="812800"/>
                  </a:cubicBezTo>
                  <a:lnTo>
                    <a:pt x="128569" y="812800"/>
                  </a:lnTo>
                  <a:cubicBezTo>
                    <a:pt x="94471" y="812800"/>
                    <a:pt x="61769" y="799254"/>
                    <a:pt x="37657" y="775143"/>
                  </a:cubicBezTo>
                  <a:cubicBezTo>
                    <a:pt x="13546" y="751031"/>
                    <a:pt x="0" y="718329"/>
                    <a:pt x="0" y="684231"/>
                  </a:cubicBezTo>
                  <a:lnTo>
                    <a:pt x="0" y="128569"/>
                  </a:lnTo>
                  <a:cubicBezTo>
                    <a:pt x="0" y="94471"/>
                    <a:pt x="13546" y="61769"/>
                    <a:pt x="37657" y="37657"/>
                  </a:cubicBezTo>
                  <a:cubicBezTo>
                    <a:pt x="61769" y="13546"/>
                    <a:pt x="94471" y="0"/>
                    <a:pt x="128569" y="0"/>
                  </a:cubicBezTo>
                  <a:close/>
                </a:path>
              </a:pathLst>
            </a:custGeom>
            <a:solidFill>
              <a:srgbClr val="000000">
                <a:alpha val="60000"/>
              </a:srgbClr>
            </a:solidFill>
          </p:spPr>
        </p:sp>
        <p:sp>
          <p:nvSpPr>
            <p:cNvPr name="TextBox 9" id="9"/>
            <p:cNvSpPr txBox="true"/>
            <p:nvPr/>
          </p:nvSpPr>
          <p:spPr>
            <a:xfrm>
              <a:off x="0" y="-47625"/>
              <a:ext cx="539217" cy="860425"/>
            </a:xfrm>
            <a:prstGeom prst="rect">
              <a:avLst/>
            </a:prstGeom>
          </p:spPr>
          <p:txBody>
            <a:bodyPr anchor="ctr" rtlCol="false" tIns="50800" lIns="50800" bIns="50800" rIns="50800"/>
            <a:lstStyle/>
            <a:p>
              <a:pPr algn="ctr">
                <a:lnSpc>
                  <a:spcPts val="2800"/>
                </a:lnSpc>
              </a:pPr>
            </a:p>
          </p:txBody>
        </p:sp>
      </p:grpSp>
      <p:sp>
        <p:nvSpPr>
          <p:cNvPr name="AutoShape 10" id="10"/>
          <p:cNvSpPr/>
          <p:nvPr/>
        </p:nvSpPr>
        <p:spPr>
          <a:xfrm flipH="true">
            <a:off x="5842567" y="6321911"/>
            <a:ext cx="1786861" cy="0"/>
          </a:xfrm>
          <a:prstGeom prst="line">
            <a:avLst/>
          </a:prstGeom>
          <a:ln cap="flat" w="38100">
            <a:gradFill>
              <a:gsLst>
                <a:gs pos="0">
                  <a:srgbClr val="000000">
                    <a:alpha val="0"/>
                  </a:srgbClr>
                </a:gs>
                <a:gs pos="50000">
                  <a:srgbClr val="F66854">
                    <a:alpha val="100000"/>
                  </a:srgbClr>
                </a:gs>
                <a:gs pos="100000">
                  <a:srgbClr val="000000">
                    <a:alpha val="0"/>
                  </a:srgbClr>
                </a:gs>
              </a:gsLst>
              <a:lin ang="0"/>
            </a:gradFill>
            <a:prstDash val="solid"/>
            <a:headEnd type="none" len="sm" w="sm"/>
            <a:tailEnd type="none" len="sm" w="sm"/>
          </a:ln>
        </p:spPr>
      </p:sp>
      <p:grpSp>
        <p:nvGrpSpPr>
          <p:cNvPr name="Group 11" id="11"/>
          <p:cNvGrpSpPr/>
          <p:nvPr/>
        </p:nvGrpSpPr>
        <p:grpSpPr>
          <a:xfrm rot="0">
            <a:off x="8120330" y="4001516"/>
            <a:ext cx="2047341" cy="3086100"/>
            <a:chOff x="0" y="0"/>
            <a:chExt cx="539217" cy="812800"/>
          </a:xfrm>
        </p:grpSpPr>
        <p:sp>
          <p:nvSpPr>
            <p:cNvPr name="Freeform 12" id="12"/>
            <p:cNvSpPr/>
            <p:nvPr/>
          </p:nvSpPr>
          <p:spPr>
            <a:xfrm flipH="false" flipV="false" rot="0">
              <a:off x="0" y="0"/>
              <a:ext cx="539217" cy="812800"/>
            </a:xfrm>
            <a:custGeom>
              <a:avLst/>
              <a:gdLst/>
              <a:ahLst/>
              <a:cxnLst/>
              <a:rect r="r" b="b" t="t" l="l"/>
              <a:pathLst>
                <a:path h="812800" w="539217">
                  <a:moveTo>
                    <a:pt x="128569" y="0"/>
                  </a:moveTo>
                  <a:lnTo>
                    <a:pt x="410648" y="0"/>
                  </a:lnTo>
                  <a:cubicBezTo>
                    <a:pt x="481655" y="0"/>
                    <a:pt x="539217" y="57562"/>
                    <a:pt x="539217" y="128569"/>
                  </a:cubicBezTo>
                  <a:lnTo>
                    <a:pt x="539217" y="684231"/>
                  </a:lnTo>
                  <a:cubicBezTo>
                    <a:pt x="539217" y="718329"/>
                    <a:pt x="525672" y="751031"/>
                    <a:pt x="501560" y="775143"/>
                  </a:cubicBezTo>
                  <a:cubicBezTo>
                    <a:pt x="477449" y="799254"/>
                    <a:pt x="444747" y="812800"/>
                    <a:pt x="410648" y="812800"/>
                  </a:cubicBezTo>
                  <a:lnTo>
                    <a:pt x="128569" y="812800"/>
                  </a:lnTo>
                  <a:cubicBezTo>
                    <a:pt x="94471" y="812800"/>
                    <a:pt x="61769" y="799254"/>
                    <a:pt x="37657" y="775143"/>
                  </a:cubicBezTo>
                  <a:cubicBezTo>
                    <a:pt x="13546" y="751031"/>
                    <a:pt x="0" y="718329"/>
                    <a:pt x="0" y="684231"/>
                  </a:cubicBezTo>
                  <a:lnTo>
                    <a:pt x="0" y="128569"/>
                  </a:lnTo>
                  <a:cubicBezTo>
                    <a:pt x="0" y="94471"/>
                    <a:pt x="13546" y="61769"/>
                    <a:pt x="37657" y="37657"/>
                  </a:cubicBezTo>
                  <a:cubicBezTo>
                    <a:pt x="61769" y="13546"/>
                    <a:pt x="94471" y="0"/>
                    <a:pt x="128569" y="0"/>
                  </a:cubicBezTo>
                  <a:close/>
                </a:path>
              </a:pathLst>
            </a:custGeom>
            <a:solidFill>
              <a:srgbClr val="000000">
                <a:alpha val="60000"/>
              </a:srgbClr>
            </a:solidFill>
          </p:spPr>
        </p:sp>
        <p:sp>
          <p:nvSpPr>
            <p:cNvPr name="TextBox 13" id="13"/>
            <p:cNvSpPr txBox="true"/>
            <p:nvPr/>
          </p:nvSpPr>
          <p:spPr>
            <a:xfrm>
              <a:off x="0" y="-47625"/>
              <a:ext cx="539217" cy="860425"/>
            </a:xfrm>
            <a:prstGeom prst="rect">
              <a:avLst/>
            </a:prstGeom>
          </p:spPr>
          <p:txBody>
            <a:bodyPr anchor="ctr" rtlCol="false" tIns="50800" lIns="50800" bIns="50800" rIns="50800"/>
            <a:lstStyle/>
            <a:p>
              <a:pPr algn="ctr">
                <a:lnSpc>
                  <a:spcPts val="2800"/>
                </a:lnSpc>
              </a:pPr>
            </a:p>
          </p:txBody>
        </p:sp>
      </p:grpSp>
      <p:sp>
        <p:nvSpPr>
          <p:cNvPr name="AutoShape 14" id="14"/>
          <p:cNvSpPr/>
          <p:nvPr/>
        </p:nvSpPr>
        <p:spPr>
          <a:xfrm flipH="true">
            <a:off x="8250569" y="6321911"/>
            <a:ext cx="1786861" cy="0"/>
          </a:xfrm>
          <a:prstGeom prst="line">
            <a:avLst/>
          </a:prstGeom>
          <a:ln cap="flat" w="38100">
            <a:gradFill>
              <a:gsLst>
                <a:gs pos="0">
                  <a:srgbClr val="000000">
                    <a:alpha val="0"/>
                  </a:srgbClr>
                </a:gs>
                <a:gs pos="50000">
                  <a:srgbClr val="F66854">
                    <a:alpha val="100000"/>
                  </a:srgbClr>
                </a:gs>
                <a:gs pos="100000">
                  <a:srgbClr val="000000">
                    <a:alpha val="0"/>
                  </a:srgbClr>
                </a:gs>
              </a:gsLst>
              <a:lin ang="0"/>
            </a:gradFill>
            <a:prstDash val="solid"/>
            <a:headEnd type="none" len="sm" w="sm"/>
            <a:tailEnd type="none" len="sm" w="sm"/>
          </a:ln>
        </p:spPr>
      </p:sp>
      <p:grpSp>
        <p:nvGrpSpPr>
          <p:cNvPr name="Group 15" id="15"/>
          <p:cNvGrpSpPr/>
          <p:nvPr/>
        </p:nvGrpSpPr>
        <p:grpSpPr>
          <a:xfrm rot="0">
            <a:off x="10528332" y="4001516"/>
            <a:ext cx="2047341" cy="3086100"/>
            <a:chOff x="0" y="0"/>
            <a:chExt cx="539217" cy="812800"/>
          </a:xfrm>
        </p:grpSpPr>
        <p:sp>
          <p:nvSpPr>
            <p:cNvPr name="Freeform 16" id="16"/>
            <p:cNvSpPr/>
            <p:nvPr/>
          </p:nvSpPr>
          <p:spPr>
            <a:xfrm flipH="false" flipV="false" rot="0">
              <a:off x="0" y="0"/>
              <a:ext cx="539217" cy="812800"/>
            </a:xfrm>
            <a:custGeom>
              <a:avLst/>
              <a:gdLst/>
              <a:ahLst/>
              <a:cxnLst/>
              <a:rect r="r" b="b" t="t" l="l"/>
              <a:pathLst>
                <a:path h="812800" w="539217">
                  <a:moveTo>
                    <a:pt x="128569" y="0"/>
                  </a:moveTo>
                  <a:lnTo>
                    <a:pt x="410648" y="0"/>
                  </a:lnTo>
                  <a:cubicBezTo>
                    <a:pt x="481655" y="0"/>
                    <a:pt x="539217" y="57562"/>
                    <a:pt x="539217" y="128569"/>
                  </a:cubicBezTo>
                  <a:lnTo>
                    <a:pt x="539217" y="684231"/>
                  </a:lnTo>
                  <a:cubicBezTo>
                    <a:pt x="539217" y="718329"/>
                    <a:pt x="525672" y="751031"/>
                    <a:pt x="501560" y="775143"/>
                  </a:cubicBezTo>
                  <a:cubicBezTo>
                    <a:pt x="477449" y="799254"/>
                    <a:pt x="444747" y="812800"/>
                    <a:pt x="410648" y="812800"/>
                  </a:cubicBezTo>
                  <a:lnTo>
                    <a:pt x="128569" y="812800"/>
                  </a:lnTo>
                  <a:cubicBezTo>
                    <a:pt x="94471" y="812800"/>
                    <a:pt x="61769" y="799254"/>
                    <a:pt x="37657" y="775143"/>
                  </a:cubicBezTo>
                  <a:cubicBezTo>
                    <a:pt x="13546" y="751031"/>
                    <a:pt x="0" y="718329"/>
                    <a:pt x="0" y="684231"/>
                  </a:cubicBezTo>
                  <a:lnTo>
                    <a:pt x="0" y="128569"/>
                  </a:lnTo>
                  <a:cubicBezTo>
                    <a:pt x="0" y="94471"/>
                    <a:pt x="13546" y="61769"/>
                    <a:pt x="37657" y="37657"/>
                  </a:cubicBezTo>
                  <a:cubicBezTo>
                    <a:pt x="61769" y="13546"/>
                    <a:pt x="94471" y="0"/>
                    <a:pt x="128569" y="0"/>
                  </a:cubicBezTo>
                  <a:close/>
                </a:path>
              </a:pathLst>
            </a:custGeom>
            <a:solidFill>
              <a:srgbClr val="000000">
                <a:alpha val="60000"/>
              </a:srgbClr>
            </a:solidFill>
          </p:spPr>
        </p:sp>
        <p:sp>
          <p:nvSpPr>
            <p:cNvPr name="TextBox 17" id="17"/>
            <p:cNvSpPr txBox="true"/>
            <p:nvPr/>
          </p:nvSpPr>
          <p:spPr>
            <a:xfrm>
              <a:off x="0" y="-47625"/>
              <a:ext cx="539217" cy="860425"/>
            </a:xfrm>
            <a:prstGeom prst="rect">
              <a:avLst/>
            </a:prstGeom>
          </p:spPr>
          <p:txBody>
            <a:bodyPr anchor="ctr" rtlCol="false" tIns="50800" lIns="50800" bIns="50800" rIns="50800"/>
            <a:lstStyle/>
            <a:p>
              <a:pPr algn="ctr">
                <a:lnSpc>
                  <a:spcPts val="2800"/>
                </a:lnSpc>
              </a:pPr>
            </a:p>
          </p:txBody>
        </p:sp>
      </p:grpSp>
      <p:sp>
        <p:nvSpPr>
          <p:cNvPr name="AutoShape 18" id="18"/>
          <p:cNvSpPr/>
          <p:nvPr/>
        </p:nvSpPr>
        <p:spPr>
          <a:xfrm flipH="true">
            <a:off x="10658572" y="6321911"/>
            <a:ext cx="1786861" cy="0"/>
          </a:xfrm>
          <a:prstGeom prst="line">
            <a:avLst/>
          </a:prstGeom>
          <a:ln cap="flat" w="38100">
            <a:gradFill>
              <a:gsLst>
                <a:gs pos="0">
                  <a:srgbClr val="000000">
                    <a:alpha val="0"/>
                  </a:srgbClr>
                </a:gs>
                <a:gs pos="50000">
                  <a:srgbClr val="F66854">
                    <a:alpha val="100000"/>
                  </a:srgbClr>
                </a:gs>
                <a:gs pos="100000">
                  <a:srgbClr val="000000">
                    <a:alpha val="0"/>
                  </a:srgbClr>
                </a:gs>
              </a:gsLst>
              <a:lin ang="0"/>
            </a:gradFill>
            <a:prstDash val="solid"/>
            <a:headEnd type="none" len="sm" w="sm"/>
            <a:tailEnd type="none" len="sm" w="sm"/>
          </a:ln>
        </p:spPr>
      </p:sp>
      <p:grpSp>
        <p:nvGrpSpPr>
          <p:cNvPr name="Group 19" id="19"/>
          <p:cNvGrpSpPr/>
          <p:nvPr/>
        </p:nvGrpSpPr>
        <p:grpSpPr>
          <a:xfrm rot="0">
            <a:off x="12936334" y="4001516"/>
            <a:ext cx="2047341" cy="3086100"/>
            <a:chOff x="0" y="0"/>
            <a:chExt cx="539217" cy="812800"/>
          </a:xfrm>
        </p:grpSpPr>
        <p:sp>
          <p:nvSpPr>
            <p:cNvPr name="Freeform 20" id="20"/>
            <p:cNvSpPr/>
            <p:nvPr/>
          </p:nvSpPr>
          <p:spPr>
            <a:xfrm flipH="false" flipV="false" rot="0">
              <a:off x="0" y="0"/>
              <a:ext cx="539217" cy="812800"/>
            </a:xfrm>
            <a:custGeom>
              <a:avLst/>
              <a:gdLst/>
              <a:ahLst/>
              <a:cxnLst/>
              <a:rect r="r" b="b" t="t" l="l"/>
              <a:pathLst>
                <a:path h="812800" w="539217">
                  <a:moveTo>
                    <a:pt x="128569" y="0"/>
                  </a:moveTo>
                  <a:lnTo>
                    <a:pt x="410648" y="0"/>
                  </a:lnTo>
                  <a:cubicBezTo>
                    <a:pt x="481655" y="0"/>
                    <a:pt x="539217" y="57562"/>
                    <a:pt x="539217" y="128569"/>
                  </a:cubicBezTo>
                  <a:lnTo>
                    <a:pt x="539217" y="684231"/>
                  </a:lnTo>
                  <a:cubicBezTo>
                    <a:pt x="539217" y="718329"/>
                    <a:pt x="525672" y="751031"/>
                    <a:pt x="501560" y="775143"/>
                  </a:cubicBezTo>
                  <a:cubicBezTo>
                    <a:pt x="477449" y="799254"/>
                    <a:pt x="444747" y="812800"/>
                    <a:pt x="410648" y="812800"/>
                  </a:cubicBezTo>
                  <a:lnTo>
                    <a:pt x="128569" y="812800"/>
                  </a:lnTo>
                  <a:cubicBezTo>
                    <a:pt x="94471" y="812800"/>
                    <a:pt x="61769" y="799254"/>
                    <a:pt x="37657" y="775143"/>
                  </a:cubicBezTo>
                  <a:cubicBezTo>
                    <a:pt x="13546" y="751031"/>
                    <a:pt x="0" y="718329"/>
                    <a:pt x="0" y="684231"/>
                  </a:cubicBezTo>
                  <a:lnTo>
                    <a:pt x="0" y="128569"/>
                  </a:lnTo>
                  <a:cubicBezTo>
                    <a:pt x="0" y="94471"/>
                    <a:pt x="13546" y="61769"/>
                    <a:pt x="37657" y="37657"/>
                  </a:cubicBezTo>
                  <a:cubicBezTo>
                    <a:pt x="61769" y="13546"/>
                    <a:pt x="94471" y="0"/>
                    <a:pt x="128569" y="0"/>
                  </a:cubicBezTo>
                  <a:close/>
                </a:path>
              </a:pathLst>
            </a:custGeom>
            <a:solidFill>
              <a:srgbClr val="000000">
                <a:alpha val="60000"/>
              </a:srgbClr>
            </a:solidFill>
          </p:spPr>
        </p:sp>
        <p:sp>
          <p:nvSpPr>
            <p:cNvPr name="TextBox 21" id="21"/>
            <p:cNvSpPr txBox="true"/>
            <p:nvPr/>
          </p:nvSpPr>
          <p:spPr>
            <a:xfrm>
              <a:off x="0" y="-47625"/>
              <a:ext cx="539217" cy="860425"/>
            </a:xfrm>
            <a:prstGeom prst="rect">
              <a:avLst/>
            </a:prstGeom>
          </p:spPr>
          <p:txBody>
            <a:bodyPr anchor="ctr" rtlCol="false" tIns="50800" lIns="50800" bIns="50800" rIns="50800"/>
            <a:lstStyle/>
            <a:p>
              <a:pPr algn="ctr">
                <a:lnSpc>
                  <a:spcPts val="2800"/>
                </a:lnSpc>
              </a:pPr>
            </a:p>
          </p:txBody>
        </p:sp>
      </p:grpSp>
      <p:sp>
        <p:nvSpPr>
          <p:cNvPr name="AutoShape 22" id="22"/>
          <p:cNvSpPr/>
          <p:nvPr/>
        </p:nvSpPr>
        <p:spPr>
          <a:xfrm flipH="true">
            <a:off x="13066574" y="6321911"/>
            <a:ext cx="1786861" cy="0"/>
          </a:xfrm>
          <a:prstGeom prst="line">
            <a:avLst/>
          </a:prstGeom>
          <a:ln cap="flat" w="38100">
            <a:gradFill>
              <a:gsLst>
                <a:gs pos="0">
                  <a:srgbClr val="000000">
                    <a:alpha val="0"/>
                  </a:srgbClr>
                </a:gs>
                <a:gs pos="50000">
                  <a:srgbClr val="F66854">
                    <a:alpha val="100000"/>
                  </a:srgbClr>
                </a:gs>
                <a:gs pos="100000">
                  <a:srgbClr val="000000">
                    <a:alpha val="0"/>
                  </a:srgbClr>
                </a:gs>
              </a:gsLst>
              <a:lin ang="0"/>
            </a:gradFill>
            <a:prstDash val="solid"/>
            <a:headEnd type="none" len="sm" w="sm"/>
            <a:tailEnd type="none" len="sm" w="sm"/>
          </a:ln>
        </p:spPr>
      </p:sp>
      <p:grpSp>
        <p:nvGrpSpPr>
          <p:cNvPr name="Group 23" id="23"/>
          <p:cNvGrpSpPr/>
          <p:nvPr/>
        </p:nvGrpSpPr>
        <p:grpSpPr>
          <a:xfrm rot="0">
            <a:off x="3872622" y="4279489"/>
            <a:ext cx="910747" cy="91074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0000">
                    <a:alpha val="100000"/>
                  </a:srgbClr>
                </a:gs>
                <a:gs pos="100000">
                  <a:srgbClr val="F66854">
                    <a:alpha val="100000"/>
                  </a:srgbClr>
                </a:gs>
              </a:gsLst>
              <a:lin ang="2700000"/>
            </a:gradFill>
          </p:spPr>
        </p:sp>
        <p:sp>
          <p:nvSpPr>
            <p:cNvPr name="TextBox 25" id="25"/>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grpSp>
        <p:nvGrpSpPr>
          <p:cNvPr name="Group 26" id="26"/>
          <p:cNvGrpSpPr/>
          <p:nvPr/>
        </p:nvGrpSpPr>
        <p:grpSpPr>
          <a:xfrm rot="0">
            <a:off x="6280624" y="4279489"/>
            <a:ext cx="910747" cy="910747"/>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0000">
                    <a:alpha val="100000"/>
                  </a:srgbClr>
                </a:gs>
                <a:gs pos="100000">
                  <a:srgbClr val="F66854">
                    <a:alpha val="100000"/>
                  </a:srgbClr>
                </a:gs>
              </a:gsLst>
              <a:lin ang="2700000"/>
            </a:gradFill>
          </p:spPr>
        </p:sp>
        <p:sp>
          <p:nvSpPr>
            <p:cNvPr name="TextBox 28" id="28"/>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grpSp>
        <p:nvGrpSpPr>
          <p:cNvPr name="Group 29" id="29"/>
          <p:cNvGrpSpPr/>
          <p:nvPr/>
        </p:nvGrpSpPr>
        <p:grpSpPr>
          <a:xfrm rot="0">
            <a:off x="8688626" y="4279489"/>
            <a:ext cx="910747" cy="91074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0000">
                    <a:alpha val="100000"/>
                  </a:srgbClr>
                </a:gs>
                <a:gs pos="100000">
                  <a:srgbClr val="F66854">
                    <a:alpha val="100000"/>
                  </a:srgbClr>
                </a:gs>
              </a:gsLst>
              <a:lin ang="2700000"/>
            </a:gradFill>
          </p:spPr>
        </p:sp>
        <p:sp>
          <p:nvSpPr>
            <p:cNvPr name="TextBox 31" id="31"/>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grpSp>
        <p:nvGrpSpPr>
          <p:cNvPr name="Group 32" id="32"/>
          <p:cNvGrpSpPr/>
          <p:nvPr/>
        </p:nvGrpSpPr>
        <p:grpSpPr>
          <a:xfrm rot="0">
            <a:off x="11096629" y="4279489"/>
            <a:ext cx="910747" cy="910747"/>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0000">
                    <a:alpha val="100000"/>
                  </a:srgbClr>
                </a:gs>
                <a:gs pos="100000">
                  <a:srgbClr val="F66854">
                    <a:alpha val="100000"/>
                  </a:srgbClr>
                </a:gs>
              </a:gsLst>
              <a:lin ang="2700000"/>
            </a:gradFill>
          </p:spPr>
        </p:sp>
        <p:sp>
          <p:nvSpPr>
            <p:cNvPr name="TextBox 34" id="34"/>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grpSp>
        <p:nvGrpSpPr>
          <p:cNvPr name="Group 35" id="35"/>
          <p:cNvGrpSpPr/>
          <p:nvPr/>
        </p:nvGrpSpPr>
        <p:grpSpPr>
          <a:xfrm rot="0">
            <a:off x="13504631" y="4279489"/>
            <a:ext cx="910747" cy="910747"/>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00000">
                    <a:alpha val="100000"/>
                  </a:srgbClr>
                </a:gs>
                <a:gs pos="100000">
                  <a:srgbClr val="F66854">
                    <a:alpha val="100000"/>
                  </a:srgbClr>
                </a:gs>
              </a:gsLst>
              <a:lin ang="2700000"/>
            </a:gradFill>
          </p:spPr>
        </p:sp>
        <p:sp>
          <p:nvSpPr>
            <p:cNvPr name="TextBox 37" id="37"/>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sp>
        <p:nvSpPr>
          <p:cNvPr name="Freeform 38" id="38"/>
          <p:cNvSpPr/>
          <p:nvPr/>
        </p:nvSpPr>
        <p:spPr>
          <a:xfrm flipH="false" flipV="false" rot="0">
            <a:off x="-1073070" y="4584754"/>
            <a:ext cx="3882096" cy="2272790"/>
          </a:xfrm>
          <a:custGeom>
            <a:avLst/>
            <a:gdLst/>
            <a:ahLst/>
            <a:cxnLst/>
            <a:rect r="r" b="b" t="t" l="l"/>
            <a:pathLst>
              <a:path h="2272790" w="3882096">
                <a:moveTo>
                  <a:pt x="0" y="0"/>
                </a:moveTo>
                <a:lnTo>
                  <a:pt x="3882095" y="0"/>
                </a:lnTo>
                <a:lnTo>
                  <a:pt x="3882095" y="2272790"/>
                </a:lnTo>
                <a:lnTo>
                  <a:pt x="0" y="22727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9" id="39"/>
          <p:cNvSpPr txBox="true"/>
          <p:nvPr/>
        </p:nvSpPr>
        <p:spPr>
          <a:xfrm rot="0">
            <a:off x="5712327" y="790700"/>
            <a:ext cx="4137512" cy="919480"/>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TT Interphases Bold"/>
                <a:ea typeface="TT Interphases Bold"/>
                <a:cs typeface="TT Interphases Bold"/>
                <a:sym typeface="TT Interphases Bold"/>
              </a:rPr>
              <a:t>DATASET</a:t>
            </a:r>
          </a:p>
        </p:txBody>
      </p:sp>
      <p:sp>
        <p:nvSpPr>
          <p:cNvPr name="TextBox 40" id="40"/>
          <p:cNvSpPr txBox="true"/>
          <p:nvPr/>
        </p:nvSpPr>
        <p:spPr>
          <a:xfrm rot="0">
            <a:off x="7980935" y="1633980"/>
            <a:ext cx="3278513" cy="679450"/>
          </a:xfrm>
          <a:prstGeom prst="rect">
            <a:avLst/>
          </a:prstGeom>
        </p:spPr>
        <p:txBody>
          <a:bodyPr anchor="t" rtlCol="false" tIns="0" lIns="0" bIns="0" rIns="0">
            <a:spAutoFit/>
          </a:bodyPr>
          <a:lstStyle/>
          <a:p>
            <a:pPr algn="l" marL="0" indent="0" lvl="0">
              <a:lnSpc>
                <a:spcPts val="5599"/>
              </a:lnSpc>
              <a:spcBef>
                <a:spcPct val="0"/>
              </a:spcBef>
            </a:pPr>
            <a:r>
              <a:rPr lang="en-US" sz="3999">
                <a:solidFill>
                  <a:srgbClr val="FF6B57"/>
                </a:solidFill>
                <a:latin typeface="TT Interphases"/>
                <a:ea typeface="TT Interphases"/>
                <a:cs typeface="TT Interphases"/>
                <a:sym typeface="TT Interphases"/>
              </a:rPr>
              <a:t>Features used</a:t>
            </a:r>
          </a:p>
        </p:txBody>
      </p:sp>
      <p:sp>
        <p:nvSpPr>
          <p:cNvPr name="TextBox 41" id="41"/>
          <p:cNvSpPr txBox="true"/>
          <p:nvPr/>
        </p:nvSpPr>
        <p:spPr>
          <a:xfrm rot="0">
            <a:off x="3428471" y="6443726"/>
            <a:ext cx="1799049" cy="306705"/>
          </a:xfrm>
          <a:prstGeom prst="rect">
            <a:avLst/>
          </a:prstGeom>
        </p:spPr>
        <p:txBody>
          <a:bodyPr anchor="t" rtlCol="false" tIns="0" lIns="0" bIns="0" rIns="0">
            <a:spAutoFit/>
          </a:bodyPr>
          <a:lstStyle/>
          <a:p>
            <a:pPr algn="ctr" marL="0" indent="0" lvl="0">
              <a:lnSpc>
                <a:spcPts val="2520"/>
              </a:lnSpc>
              <a:spcBef>
                <a:spcPct val="0"/>
              </a:spcBef>
            </a:pPr>
            <a:r>
              <a:rPr lang="en-US" sz="1800">
                <a:solidFill>
                  <a:srgbClr val="FFFFFF"/>
                </a:solidFill>
                <a:latin typeface="TT Interphases"/>
                <a:ea typeface="TT Interphases"/>
                <a:cs typeface="TT Interphases"/>
                <a:sym typeface="TT Interphases"/>
              </a:rPr>
              <a:t>Day of trading</a:t>
            </a:r>
          </a:p>
        </p:txBody>
      </p:sp>
      <p:sp>
        <p:nvSpPr>
          <p:cNvPr name="TextBox 42" id="42"/>
          <p:cNvSpPr txBox="true"/>
          <p:nvPr/>
        </p:nvSpPr>
        <p:spPr>
          <a:xfrm rot="0">
            <a:off x="3126354" y="5361686"/>
            <a:ext cx="2403284" cy="412774"/>
          </a:xfrm>
          <a:prstGeom prst="rect">
            <a:avLst/>
          </a:prstGeom>
        </p:spPr>
        <p:txBody>
          <a:bodyPr anchor="t" rtlCol="false" tIns="0" lIns="0" bIns="0" rIns="0">
            <a:spAutoFit/>
          </a:bodyPr>
          <a:lstStyle/>
          <a:p>
            <a:pPr algn="ctr" marL="0" indent="0" lvl="0">
              <a:lnSpc>
                <a:spcPts val="3301"/>
              </a:lnSpc>
              <a:spcBef>
                <a:spcPct val="0"/>
              </a:spcBef>
            </a:pPr>
            <a:r>
              <a:rPr lang="en-US" b="true" sz="2358">
                <a:solidFill>
                  <a:srgbClr val="FF6B57"/>
                </a:solidFill>
                <a:latin typeface="TT Interphases Bold"/>
                <a:ea typeface="TT Interphases Bold"/>
                <a:cs typeface="TT Interphases Bold"/>
                <a:sym typeface="TT Interphases Bold"/>
              </a:rPr>
              <a:t>Date</a:t>
            </a:r>
          </a:p>
        </p:txBody>
      </p:sp>
      <p:sp>
        <p:nvSpPr>
          <p:cNvPr name="TextBox 43" id="43"/>
          <p:cNvSpPr txBox="true"/>
          <p:nvPr/>
        </p:nvSpPr>
        <p:spPr>
          <a:xfrm rot="0">
            <a:off x="5712327" y="6420866"/>
            <a:ext cx="2059090" cy="621030"/>
          </a:xfrm>
          <a:prstGeom prst="rect">
            <a:avLst/>
          </a:prstGeom>
        </p:spPr>
        <p:txBody>
          <a:bodyPr anchor="t" rtlCol="false" tIns="0" lIns="0" bIns="0" rIns="0">
            <a:spAutoFit/>
          </a:bodyPr>
          <a:lstStyle/>
          <a:p>
            <a:pPr algn="ctr">
              <a:lnSpc>
                <a:spcPts val="2520"/>
              </a:lnSpc>
            </a:pPr>
            <a:r>
              <a:rPr lang="en-US" sz="1800">
                <a:solidFill>
                  <a:srgbClr val="FFFFFF"/>
                </a:solidFill>
                <a:latin typeface="TT Interphases"/>
                <a:ea typeface="TT Interphases"/>
                <a:cs typeface="TT Interphases"/>
                <a:sym typeface="TT Interphases"/>
              </a:rPr>
              <a:t> when market </a:t>
            </a:r>
          </a:p>
          <a:p>
            <a:pPr algn="ctr" marL="0" indent="0" lvl="0">
              <a:lnSpc>
                <a:spcPts val="2520"/>
              </a:lnSpc>
              <a:spcBef>
                <a:spcPct val="0"/>
              </a:spcBef>
            </a:pPr>
            <a:r>
              <a:rPr lang="en-US" sz="1800">
                <a:solidFill>
                  <a:srgbClr val="FFFFFF"/>
                </a:solidFill>
                <a:latin typeface="TT Interphases"/>
                <a:ea typeface="TT Interphases"/>
                <a:cs typeface="TT Interphases"/>
                <a:sym typeface="TT Interphases"/>
              </a:rPr>
              <a:t>opens</a:t>
            </a:r>
          </a:p>
        </p:txBody>
      </p:sp>
      <p:sp>
        <p:nvSpPr>
          <p:cNvPr name="TextBox 44" id="44"/>
          <p:cNvSpPr txBox="true"/>
          <p:nvPr/>
        </p:nvSpPr>
        <p:spPr>
          <a:xfrm rot="0">
            <a:off x="5529637" y="5418957"/>
            <a:ext cx="2365926" cy="397721"/>
          </a:xfrm>
          <a:prstGeom prst="rect">
            <a:avLst/>
          </a:prstGeom>
        </p:spPr>
        <p:txBody>
          <a:bodyPr anchor="t" rtlCol="false" tIns="0" lIns="0" bIns="0" rIns="0">
            <a:spAutoFit/>
          </a:bodyPr>
          <a:lstStyle/>
          <a:p>
            <a:pPr algn="ctr" marL="0" indent="0" lvl="0">
              <a:lnSpc>
                <a:spcPts val="3249"/>
              </a:lnSpc>
              <a:spcBef>
                <a:spcPct val="0"/>
              </a:spcBef>
            </a:pPr>
            <a:r>
              <a:rPr lang="en-US" b="true" sz="2321">
                <a:solidFill>
                  <a:srgbClr val="FF6B57"/>
                </a:solidFill>
                <a:latin typeface="TT Interphases Bold"/>
                <a:ea typeface="TT Interphases Bold"/>
                <a:cs typeface="TT Interphases Bold"/>
                <a:sym typeface="TT Interphases Bold"/>
              </a:rPr>
              <a:t>Open</a:t>
            </a:r>
          </a:p>
        </p:txBody>
      </p:sp>
      <p:sp>
        <p:nvSpPr>
          <p:cNvPr name="TextBox 45" id="45"/>
          <p:cNvSpPr txBox="true"/>
          <p:nvPr/>
        </p:nvSpPr>
        <p:spPr>
          <a:xfrm rot="0">
            <a:off x="8287243" y="6420866"/>
            <a:ext cx="1799049" cy="621030"/>
          </a:xfrm>
          <a:prstGeom prst="rect">
            <a:avLst/>
          </a:prstGeom>
        </p:spPr>
        <p:txBody>
          <a:bodyPr anchor="t" rtlCol="false" tIns="0" lIns="0" bIns="0" rIns="0">
            <a:spAutoFit/>
          </a:bodyPr>
          <a:lstStyle/>
          <a:p>
            <a:pPr algn="ctr" marL="0" indent="0" lvl="0">
              <a:lnSpc>
                <a:spcPts val="2520"/>
              </a:lnSpc>
              <a:spcBef>
                <a:spcPct val="0"/>
              </a:spcBef>
            </a:pPr>
            <a:r>
              <a:rPr lang="en-US" sz="1800">
                <a:solidFill>
                  <a:srgbClr val="FFFFFF"/>
                </a:solidFill>
                <a:latin typeface="TT Interphases"/>
                <a:ea typeface="TT Interphases"/>
                <a:cs typeface="TT Interphases"/>
                <a:sym typeface="TT Interphases"/>
              </a:rPr>
              <a:t> Highest/Lowest price of the day</a:t>
            </a:r>
          </a:p>
        </p:txBody>
      </p:sp>
      <p:sp>
        <p:nvSpPr>
          <p:cNvPr name="TextBox 46" id="46"/>
          <p:cNvSpPr txBox="true"/>
          <p:nvPr/>
        </p:nvSpPr>
        <p:spPr>
          <a:xfrm rot="0">
            <a:off x="8210718" y="5397513"/>
            <a:ext cx="1875575" cy="419165"/>
          </a:xfrm>
          <a:prstGeom prst="rect">
            <a:avLst/>
          </a:prstGeom>
        </p:spPr>
        <p:txBody>
          <a:bodyPr anchor="t" rtlCol="false" tIns="0" lIns="0" bIns="0" rIns="0">
            <a:spAutoFit/>
          </a:bodyPr>
          <a:lstStyle/>
          <a:p>
            <a:pPr algn="ctr" marL="0" indent="0" lvl="0">
              <a:lnSpc>
                <a:spcPts val="3449"/>
              </a:lnSpc>
              <a:spcBef>
                <a:spcPct val="0"/>
              </a:spcBef>
            </a:pPr>
            <a:r>
              <a:rPr lang="en-US" b="true" sz="2463">
                <a:solidFill>
                  <a:srgbClr val="FF6B57"/>
                </a:solidFill>
                <a:latin typeface="TT Interphases Bold"/>
                <a:ea typeface="TT Interphases Bold"/>
                <a:cs typeface="TT Interphases Bold"/>
                <a:sym typeface="TT Interphases Bold"/>
              </a:rPr>
              <a:t>High/Low</a:t>
            </a:r>
          </a:p>
        </p:txBody>
      </p:sp>
      <p:sp>
        <p:nvSpPr>
          <p:cNvPr name="TextBox 47" id="47"/>
          <p:cNvSpPr txBox="true"/>
          <p:nvPr/>
        </p:nvSpPr>
        <p:spPr>
          <a:xfrm rot="0">
            <a:off x="10652478" y="6420866"/>
            <a:ext cx="1799049" cy="621030"/>
          </a:xfrm>
          <a:prstGeom prst="rect">
            <a:avLst/>
          </a:prstGeom>
        </p:spPr>
        <p:txBody>
          <a:bodyPr anchor="t" rtlCol="false" tIns="0" lIns="0" bIns="0" rIns="0">
            <a:spAutoFit/>
          </a:bodyPr>
          <a:lstStyle/>
          <a:p>
            <a:pPr algn="ctr" marL="0" indent="0" lvl="0">
              <a:lnSpc>
                <a:spcPts val="2520"/>
              </a:lnSpc>
              <a:spcBef>
                <a:spcPct val="0"/>
              </a:spcBef>
            </a:pPr>
            <a:r>
              <a:rPr lang="en-US" sz="1800">
                <a:solidFill>
                  <a:srgbClr val="FFFFFF"/>
                </a:solidFill>
                <a:latin typeface="TT Interphases"/>
                <a:ea typeface="TT Interphases"/>
                <a:cs typeface="TT Interphases"/>
                <a:sym typeface="TT Interphases"/>
              </a:rPr>
              <a:t>Number of shares traded</a:t>
            </a:r>
          </a:p>
        </p:txBody>
      </p:sp>
      <p:sp>
        <p:nvSpPr>
          <p:cNvPr name="TextBox 48" id="48"/>
          <p:cNvSpPr txBox="true"/>
          <p:nvPr/>
        </p:nvSpPr>
        <p:spPr>
          <a:xfrm rot="0">
            <a:off x="10714472" y="5400004"/>
            <a:ext cx="1737055" cy="414184"/>
          </a:xfrm>
          <a:prstGeom prst="rect">
            <a:avLst/>
          </a:prstGeom>
        </p:spPr>
        <p:txBody>
          <a:bodyPr anchor="t" rtlCol="false" tIns="0" lIns="0" bIns="0" rIns="0">
            <a:spAutoFit/>
          </a:bodyPr>
          <a:lstStyle/>
          <a:p>
            <a:pPr algn="ctr" marL="0" indent="0" lvl="0">
              <a:lnSpc>
                <a:spcPts val="3402"/>
              </a:lnSpc>
              <a:spcBef>
                <a:spcPct val="0"/>
              </a:spcBef>
            </a:pPr>
            <a:r>
              <a:rPr lang="en-US" b="true" sz="2430">
                <a:solidFill>
                  <a:srgbClr val="FF6B57"/>
                </a:solidFill>
                <a:latin typeface="TT Interphases Bold"/>
                <a:ea typeface="TT Interphases Bold"/>
                <a:cs typeface="TT Interphases Bold"/>
                <a:sym typeface="TT Interphases Bold"/>
              </a:rPr>
              <a:t>Volume</a:t>
            </a:r>
          </a:p>
        </p:txBody>
      </p:sp>
      <p:sp>
        <p:nvSpPr>
          <p:cNvPr name="TextBox 49" id="49"/>
          <p:cNvSpPr txBox="true"/>
          <p:nvPr/>
        </p:nvSpPr>
        <p:spPr>
          <a:xfrm rot="0">
            <a:off x="13060480" y="6420866"/>
            <a:ext cx="1799049" cy="621030"/>
          </a:xfrm>
          <a:prstGeom prst="rect">
            <a:avLst/>
          </a:prstGeom>
        </p:spPr>
        <p:txBody>
          <a:bodyPr anchor="t" rtlCol="false" tIns="0" lIns="0" bIns="0" rIns="0">
            <a:spAutoFit/>
          </a:bodyPr>
          <a:lstStyle/>
          <a:p>
            <a:pPr algn="ctr" marL="0" indent="0" lvl="0">
              <a:lnSpc>
                <a:spcPts val="2520"/>
              </a:lnSpc>
              <a:spcBef>
                <a:spcPct val="0"/>
              </a:spcBef>
            </a:pPr>
            <a:r>
              <a:rPr lang="en-US" sz="1800">
                <a:solidFill>
                  <a:srgbClr val="FFFFFF"/>
                </a:solidFill>
                <a:latin typeface="TT Interphases"/>
                <a:ea typeface="TT Interphases"/>
                <a:cs typeface="TT Interphases"/>
                <a:sym typeface="TT Interphases"/>
              </a:rPr>
              <a:t> Price when market closes</a:t>
            </a:r>
          </a:p>
        </p:txBody>
      </p:sp>
      <p:sp>
        <p:nvSpPr>
          <p:cNvPr name="TextBox 50" id="50"/>
          <p:cNvSpPr txBox="true"/>
          <p:nvPr/>
        </p:nvSpPr>
        <p:spPr>
          <a:xfrm rot="0">
            <a:off x="13165625" y="5409432"/>
            <a:ext cx="1687810" cy="413317"/>
          </a:xfrm>
          <a:prstGeom prst="rect">
            <a:avLst/>
          </a:prstGeom>
        </p:spPr>
        <p:txBody>
          <a:bodyPr anchor="t" rtlCol="false" tIns="0" lIns="0" bIns="0" rIns="0">
            <a:spAutoFit/>
          </a:bodyPr>
          <a:lstStyle/>
          <a:p>
            <a:pPr algn="ctr" marL="0" indent="0" lvl="0">
              <a:lnSpc>
                <a:spcPts val="3306"/>
              </a:lnSpc>
              <a:spcBef>
                <a:spcPct val="0"/>
              </a:spcBef>
            </a:pPr>
            <a:r>
              <a:rPr lang="en-US" b="true" sz="2361">
                <a:solidFill>
                  <a:srgbClr val="FF6B57"/>
                </a:solidFill>
                <a:latin typeface="TT Interphases Bold"/>
                <a:ea typeface="TT Interphases Bold"/>
                <a:cs typeface="TT Interphases Bold"/>
                <a:sym typeface="TT Interphases Bold"/>
              </a:rPr>
              <a:t>Close</a:t>
            </a:r>
          </a:p>
        </p:txBody>
      </p:sp>
      <p:sp>
        <p:nvSpPr>
          <p:cNvPr name="TextBox 51" id="51"/>
          <p:cNvSpPr txBox="true"/>
          <p:nvPr/>
        </p:nvSpPr>
        <p:spPr>
          <a:xfrm rot="0">
            <a:off x="5128049" y="7744841"/>
            <a:ext cx="8117437" cy="2036938"/>
          </a:xfrm>
          <a:prstGeom prst="rect">
            <a:avLst/>
          </a:prstGeom>
        </p:spPr>
        <p:txBody>
          <a:bodyPr anchor="t" rtlCol="false" tIns="0" lIns="0" bIns="0" rIns="0">
            <a:spAutoFit/>
          </a:bodyPr>
          <a:lstStyle/>
          <a:p>
            <a:pPr algn="ctr">
              <a:lnSpc>
                <a:spcPts val="3227"/>
              </a:lnSpc>
            </a:pPr>
            <a:r>
              <a:rPr lang="en-US" sz="2305" b="true">
                <a:solidFill>
                  <a:srgbClr val="FFFFFF"/>
                </a:solidFill>
                <a:latin typeface="TT Interphases Bold"/>
                <a:ea typeface="TT Interphases Bold"/>
                <a:cs typeface="TT Interphases Bold"/>
                <a:sym typeface="TT Interphases Bold"/>
              </a:rPr>
              <a:t>The dataset used in this project is taken from Kaggle, a popular platform for data science and machine learning.</a:t>
            </a:r>
          </a:p>
          <a:p>
            <a:pPr algn="ctr" marL="0" indent="0" lvl="0">
              <a:lnSpc>
                <a:spcPts val="3227"/>
              </a:lnSpc>
              <a:spcBef>
                <a:spcPct val="0"/>
              </a:spcBef>
            </a:pPr>
            <a:r>
              <a:rPr lang="en-US" b="true" sz="2305">
                <a:solidFill>
                  <a:srgbClr val="FFFFFF"/>
                </a:solidFill>
                <a:latin typeface="TT Interphases Bold"/>
                <a:ea typeface="TT Interphases Bold"/>
                <a:cs typeface="TT Interphases Bold"/>
                <a:sym typeface="TT Interphases Bold"/>
              </a:rPr>
              <a:t> It provides high-quality datasets which are useful for analysis and prediction.</a:t>
            </a:r>
          </a:p>
          <a:p>
            <a:pPr algn="ctr" marL="0" indent="0" lvl="0">
              <a:lnSpc>
                <a:spcPts val="3227"/>
              </a:lnSpc>
              <a:spcBef>
                <a:spcPct val="0"/>
              </a:spcBef>
            </a:pPr>
          </a:p>
        </p:txBody>
      </p:sp>
      <p:sp>
        <p:nvSpPr>
          <p:cNvPr name="TextBox 52" id="52"/>
          <p:cNvSpPr txBox="true"/>
          <p:nvPr/>
        </p:nvSpPr>
        <p:spPr>
          <a:xfrm rot="0">
            <a:off x="3851804" y="4357038"/>
            <a:ext cx="952383" cy="679450"/>
          </a:xfrm>
          <a:prstGeom prst="rect">
            <a:avLst/>
          </a:prstGeom>
        </p:spPr>
        <p:txBody>
          <a:bodyPr anchor="t" rtlCol="false" tIns="0" lIns="0" bIns="0" rIns="0">
            <a:spAutoFit/>
          </a:bodyPr>
          <a:lstStyle/>
          <a:p>
            <a:pPr algn="ctr" marL="0" indent="0" lvl="0">
              <a:lnSpc>
                <a:spcPts val="5599"/>
              </a:lnSpc>
              <a:spcBef>
                <a:spcPct val="0"/>
              </a:spcBef>
            </a:pPr>
            <a:r>
              <a:rPr lang="en-US" b="true" sz="3999">
                <a:solidFill>
                  <a:srgbClr val="FFFFFF"/>
                </a:solidFill>
                <a:latin typeface="TT Interphases Bold"/>
                <a:ea typeface="TT Interphases Bold"/>
                <a:cs typeface="TT Interphases Bold"/>
                <a:sym typeface="TT Interphases Bold"/>
              </a:rPr>
              <a:t>01</a:t>
            </a:r>
          </a:p>
        </p:txBody>
      </p:sp>
      <p:sp>
        <p:nvSpPr>
          <p:cNvPr name="TextBox 53" id="53"/>
          <p:cNvSpPr txBox="true"/>
          <p:nvPr/>
        </p:nvSpPr>
        <p:spPr>
          <a:xfrm rot="0">
            <a:off x="6259806" y="4357038"/>
            <a:ext cx="952383" cy="679450"/>
          </a:xfrm>
          <a:prstGeom prst="rect">
            <a:avLst/>
          </a:prstGeom>
        </p:spPr>
        <p:txBody>
          <a:bodyPr anchor="t" rtlCol="false" tIns="0" lIns="0" bIns="0" rIns="0">
            <a:spAutoFit/>
          </a:bodyPr>
          <a:lstStyle/>
          <a:p>
            <a:pPr algn="ctr" marL="0" indent="0" lvl="0">
              <a:lnSpc>
                <a:spcPts val="5599"/>
              </a:lnSpc>
              <a:spcBef>
                <a:spcPct val="0"/>
              </a:spcBef>
            </a:pPr>
            <a:r>
              <a:rPr lang="en-US" b="true" sz="3999">
                <a:solidFill>
                  <a:srgbClr val="FFFFFF"/>
                </a:solidFill>
                <a:latin typeface="TT Interphases Bold"/>
                <a:ea typeface="TT Interphases Bold"/>
                <a:cs typeface="TT Interphases Bold"/>
                <a:sym typeface="TT Interphases Bold"/>
              </a:rPr>
              <a:t>02</a:t>
            </a:r>
          </a:p>
        </p:txBody>
      </p:sp>
      <p:sp>
        <p:nvSpPr>
          <p:cNvPr name="TextBox 54" id="54"/>
          <p:cNvSpPr txBox="true"/>
          <p:nvPr/>
        </p:nvSpPr>
        <p:spPr>
          <a:xfrm rot="0">
            <a:off x="8667808" y="4357038"/>
            <a:ext cx="952383" cy="679450"/>
          </a:xfrm>
          <a:prstGeom prst="rect">
            <a:avLst/>
          </a:prstGeom>
        </p:spPr>
        <p:txBody>
          <a:bodyPr anchor="t" rtlCol="false" tIns="0" lIns="0" bIns="0" rIns="0">
            <a:spAutoFit/>
          </a:bodyPr>
          <a:lstStyle/>
          <a:p>
            <a:pPr algn="ctr" marL="0" indent="0" lvl="0">
              <a:lnSpc>
                <a:spcPts val="5599"/>
              </a:lnSpc>
              <a:spcBef>
                <a:spcPct val="0"/>
              </a:spcBef>
            </a:pPr>
            <a:r>
              <a:rPr lang="en-US" b="true" sz="3999">
                <a:solidFill>
                  <a:srgbClr val="FFFFFF"/>
                </a:solidFill>
                <a:latin typeface="TT Interphases Bold"/>
                <a:ea typeface="TT Interphases Bold"/>
                <a:cs typeface="TT Interphases Bold"/>
                <a:sym typeface="TT Interphases Bold"/>
              </a:rPr>
              <a:t>03</a:t>
            </a:r>
          </a:p>
        </p:txBody>
      </p:sp>
      <p:sp>
        <p:nvSpPr>
          <p:cNvPr name="TextBox 55" id="55"/>
          <p:cNvSpPr txBox="true"/>
          <p:nvPr/>
        </p:nvSpPr>
        <p:spPr>
          <a:xfrm rot="0">
            <a:off x="11075811" y="4357038"/>
            <a:ext cx="952383" cy="679450"/>
          </a:xfrm>
          <a:prstGeom prst="rect">
            <a:avLst/>
          </a:prstGeom>
        </p:spPr>
        <p:txBody>
          <a:bodyPr anchor="t" rtlCol="false" tIns="0" lIns="0" bIns="0" rIns="0">
            <a:spAutoFit/>
          </a:bodyPr>
          <a:lstStyle/>
          <a:p>
            <a:pPr algn="ctr" marL="0" indent="0" lvl="0">
              <a:lnSpc>
                <a:spcPts val="5599"/>
              </a:lnSpc>
              <a:spcBef>
                <a:spcPct val="0"/>
              </a:spcBef>
            </a:pPr>
            <a:r>
              <a:rPr lang="en-US" b="true" sz="3999">
                <a:solidFill>
                  <a:srgbClr val="FFFFFF"/>
                </a:solidFill>
                <a:latin typeface="TT Interphases Bold"/>
                <a:ea typeface="TT Interphases Bold"/>
                <a:cs typeface="TT Interphases Bold"/>
                <a:sym typeface="TT Interphases Bold"/>
              </a:rPr>
              <a:t>04</a:t>
            </a:r>
          </a:p>
        </p:txBody>
      </p:sp>
      <p:sp>
        <p:nvSpPr>
          <p:cNvPr name="TextBox 56" id="56"/>
          <p:cNvSpPr txBox="true"/>
          <p:nvPr/>
        </p:nvSpPr>
        <p:spPr>
          <a:xfrm rot="0">
            <a:off x="13483813" y="4357038"/>
            <a:ext cx="952383" cy="679450"/>
          </a:xfrm>
          <a:prstGeom prst="rect">
            <a:avLst/>
          </a:prstGeom>
        </p:spPr>
        <p:txBody>
          <a:bodyPr anchor="t" rtlCol="false" tIns="0" lIns="0" bIns="0" rIns="0">
            <a:spAutoFit/>
          </a:bodyPr>
          <a:lstStyle/>
          <a:p>
            <a:pPr algn="ctr" marL="0" indent="0" lvl="0">
              <a:lnSpc>
                <a:spcPts val="5599"/>
              </a:lnSpc>
              <a:spcBef>
                <a:spcPct val="0"/>
              </a:spcBef>
            </a:pPr>
            <a:r>
              <a:rPr lang="en-US" b="true" sz="3999">
                <a:solidFill>
                  <a:srgbClr val="FFFFFF"/>
                </a:solidFill>
                <a:latin typeface="TT Interphases Bold"/>
                <a:ea typeface="TT Interphases Bold"/>
                <a:cs typeface="TT Interphases Bold"/>
                <a:sym typeface="TT Interphases Bold"/>
              </a:rPr>
              <a:t>05</a:t>
            </a:r>
          </a:p>
        </p:txBody>
      </p:sp>
      <p:sp>
        <p:nvSpPr>
          <p:cNvPr name="Freeform 57" id="57"/>
          <p:cNvSpPr/>
          <p:nvPr/>
        </p:nvSpPr>
        <p:spPr>
          <a:xfrm flipH="true" flipV="true" rot="0">
            <a:off x="15345625" y="4584754"/>
            <a:ext cx="3882096" cy="2272790"/>
          </a:xfrm>
          <a:custGeom>
            <a:avLst/>
            <a:gdLst/>
            <a:ahLst/>
            <a:cxnLst/>
            <a:rect r="r" b="b" t="t" l="l"/>
            <a:pathLst>
              <a:path h="2272790" w="3882096">
                <a:moveTo>
                  <a:pt x="3882095" y="2272790"/>
                </a:moveTo>
                <a:lnTo>
                  <a:pt x="0" y="2272790"/>
                </a:lnTo>
                <a:lnTo>
                  <a:pt x="0" y="0"/>
                </a:lnTo>
                <a:lnTo>
                  <a:pt x="3882095" y="0"/>
                </a:lnTo>
                <a:lnTo>
                  <a:pt x="3882095" y="227279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951584">
            <a:off x="-2560492" y="-2327804"/>
            <a:ext cx="19314877" cy="7585479"/>
          </a:xfrm>
          <a:custGeom>
            <a:avLst/>
            <a:gdLst/>
            <a:ahLst/>
            <a:cxnLst/>
            <a:rect r="r" b="b" t="t" l="l"/>
            <a:pathLst>
              <a:path h="7585479" w="19314877">
                <a:moveTo>
                  <a:pt x="0" y="0"/>
                </a:moveTo>
                <a:lnTo>
                  <a:pt x="19314877" y="0"/>
                </a:lnTo>
                <a:lnTo>
                  <a:pt x="19314877" y="7585479"/>
                </a:lnTo>
                <a:lnTo>
                  <a:pt x="0" y="7585479"/>
                </a:lnTo>
                <a:lnTo>
                  <a:pt x="0" y="0"/>
                </a:lnTo>
                <a:close/>
              </a:path>
            </a:pathLst>
          </a:custGeom>
          <a:blipFill>
            <a:blip r:embed="rId2">
              <a:alphaModFix amt="70000"/>
            </a:blip>
            <a:stretch>
              <a:fillRect l="0" t="0" r="0" b="0"/>
            </a:stretch>
          </a:blipFill>
        </p:spPr>
      </p:sp>
      <p:grpSp>
        <p:nvGrpSpPr>
          <p:cNvPr name="Group 3" id="3"/>
          <p:cNvGrpSpPr/>
          <p:nvPr/>
        </p:nvGrpSpPr>
        <p:grpSpPr>
          <a:xfrm rot="0">
            <a:off x="1253477" y="4295359"/>
            <a:ext cx="2438182" cy="3889602"/>
            <a:chOff x="0" y="0"/>
            <a:chExt cx="642155" cy="1024422"/>
          </a:xfrm>
        </p:grpSpPr>
        <p:sp>
          <p:nvSpPr>
            <p:cNvPr name="Freeform 4" id="4"/>
            <p:cNvSpPr/>
            <p:nvPr/>
          </p:nvSpPr>
          <p:spPr>
            <a:xfrm flipH="false" flipV="false" rot="0">
              <a:off x="0" y="0"/>
              <a:ext cx="642155" cy="1024422"/>
            </a:xfrm>
            <a:custGeom>
              <a:avLst/>
              <a:gdLst/>
              <a:ahLst/>
              <a:cxnLst/>
              <a:rect r="r" b="b" t="t" l="l"/>
              <a:pathLst>
                <a:path h="1024422" w="642155">
                  <a:moveTo>
                    <a:pt x="107960" y="0"/>
                  </a:moveTo>
                  <a:lnTo>
                    <a:pt x="534195" y="0"/>
                  </a:lnTo>
                  <a:cubicBezTo>
                    <a:pt x="562828" y="0"/>
                    <a:pt x="590288" y="11374"/>
                    <a:pt x="610534" y="31621"/>
                  </a:cubicBezTo>
                  <a:cubicBezTo>
                    <a:pt x="630781" y="51867"/>
                    <a:pt x="642155" y="79327"/>
                    <a:pt x="642155" y="107960"/>
                  </a:cubicBezTo>
                  <a:lnTo>
                    <a:pt x="642155" y="916462"/>
                  </a:lnTo>
                  <a:cubicBezTo>
                    <a:pt x="642155" y="945095"/>
                    <a:pt x="630781" y="972555"/>
                    <a:pt x="610534" y="992801"/>
                  </a:cubicBezTo>
                  <a:cubicBezTo>
                    <a:pt x="590288" y="1013048"/>
                    <a:pt x="562828" y="1024422"/>
                    <a:pt x="534195" y="1024422"/>
                  </a:cubicBezTo>
                  <a:lnTo>
                    <a:pt x="107960" y="1024422"/>
                  </a:lnTo>
                  <a:cubicBezTo>
                    <a:pt x="79327" y="1024422"/>
                    <a:pt x="51867" y="1013048"/>
                    <a:pt x="31621" y="992801"/>
                  </a:cubicBezTo>
                  <a:cubicBezTo>
                    <a:pt x="11374" y="972555"/>
                    <a:pt x="0" y="945095"/>
                    <a:pt x="0" y="916462"/>
                  </a:cubicBezTo>
                  <a:lnTo>
                    <a:pt x="0" y="107960"/>
                  </a:lnTo>
                  <a:cubicBezTo>
                    <a:pt x="0" y="79327"/>
                    <a:pt x="11374" y="51867"/>
                    <a:pt x="31621" y="31621"/>
                  </a:cubicBezTo>
                  <a:cubicBezTo>
                    <a:pt x="51867" y="11374"/>
                    <a:pt x="79327" y="0"/>
                    <a:pt x="107960" y="0"/>
                  </a:cubicBezTo>
                  <a:close/>
                </a:path>
              </a:pathLst>
            </a:custGeom>
            <a:solidFill>
              <a:srgbClr val="000000">
                <a:alpha val="60000"/>
              </a:srgbClr>
            </a:solidFill>
            <a:ln w="19050" cap="rnd">
              <a:gradFill>
                <a:gsLst>
                  <a:gs pos="0">
                    <a:srgbClr val="000000">
                      <a:alpha val="60000"/>
                    </a:srgbClr>
                  </a:gs>
                  <a:gs pos="100000">
                    <a:srgbClr val="F66854">
                      <a:alpha val="60000"/>
                    </a:srgbClr>
                  </a:gs>
                </a:gsLst>
                <a:lin ang="0"/>
              </a:gradFill>
              <a:prstDash val="solid"/>
              <a:round/>
            </a:ln>
          </p:spPr>
        </p:sp>
        <p:sp>
          <p:nvSpPr>
            <p:cNvPr name="TextBox 5" id="5"/>
            <p:cNvSpPr txBox="true"/>
            <p:nvPr/>
          </p:nvSpPr>
          <p:spPr>
            <a:xfrm>
              <a:off x="0" y="-47625"/>
              <a:ext cx="642155" cy="1072047"/>
            </a:xfrm>
            <a:prstGeom prst="rect">
              <a:avLst/>
            </a:prstGeom>
          </p:spPr>
          <p:txBody>
            <a:bodyPr anchor="ctr" rtlCol="false" tIns="50800" lIns="50800" bIns="50800" rIns="50800"/>
            <a:lstStyle/>
            <a:p>
              <a:pPr algn="ctr">
                <a:lnSpc>
                  <a:spcPts val="2800"/>
                </a:lnSpc>
              </a:pPr>
            </a:p>
          </p:txBody>
        </p:sp>
      </p:grpSp>
      <p:sp>
        <p:nvSpPr>
          <p:cNvPr name="AutoShape 6" id="6"/>
          <p:cNvSpPr/>
          <p:nvPr/>
        </p:nvSpPr>
        <p:spPr>
          <a:xfrm flipH="true">
            <a:off x="1892291" y="7302936"/>
            <a:ext cx="1786861" cy="0"/>
          </a:xfrm>
          <a:prstGeom prst="line">
            <a:avLst/>
          </a:prstGeom>
          <a:ln cap="flat" w="38100">
            <a:gradFill>
              <a:gsLst>
                <a:gs pos="0">
                  <a:srgbClr val="000000">
                    <a:alpha val="100000"/>
                  </a:srgbClr>
                </a:gs>
                <a:gs pos="100000">
                  <a:srgbClr val="F66854">
                    <a:alpha val="100000"/>
                  </a:srgbClr>
                </a:gs>
              </a:gsLst>
              <a:lin ang="0"/>
            </a:gradFill>
            <a:prstDash val="solid"/>
            <a:headEnd type="none" len="sm" w="sm"/>
            <a:tailEnd type="none" len="sm" w="sm"/>
          </a:ln>
        </p:spPr>
      </p:sp>
      <p:sp>
        <p:nvSpPr>
          <p:cNvPr name="AutoShape 7" id="7"/>
          <p:cNvSpPr/>
          <p:nvPr/>
        </p:nvSpPr>
        <p:spPr>
          <a:xfrm flipH="true">
            <a:off x="4434609" y="7302936"/>
            <a:ext cx="1786861" cy="0"/>
          </a:xfrm>
          <a:prstGeom prst="line">
            <a:avLst/>
          </a:prstGeom>
          <a:ln cap="flat" w="38100">
            <a:gradFill>
              <a:gsLst>
                <a:gs pos="0">
                  <a:srgbClr val="000000">
                    <a:alpha val="100000"/>
                  </a:srgbClr>
                </a:gs>
                <a:gs pos="100000">
                  <a:srgbClr val="F66854">
                    <a:alpha val="100000"/>
                  </a:srgbClr>
                </a:gs>
              </a:gsLst>
              <a:lin ang="0"/>
            </a:gradFill>
            <a:prstDash val="solid"/>
            <a:headEnd type="none" len="sm" w="sm"/>
            <a:tailEnd type="none" len="sm" w="sm"/>
          </a:ln>
        </p:spPr>
      </p:sp>
      <p:sp>
        <p:nvSpPr>
          <p:cNvPr name="AutoShape 8" id="8"/>
          <p:cNvSpPr/>
          <p:nvPr/>
        </p:nvSpPr>
        <p:spPr>
          <a:xfrm flipH="true">
            <a:off x="7548587" y="7302936"/>
            <a:ext cx="1786861" cy="0"/>
          </a:xfrm>
          <a:prstGeom prst="line">
            <a:avLst/>
          </a:prstGeom>
          <a:ln cap="flat" w="38100">
            <a:gradFill>
              <a:gsLst>
                <a:gs pos="0">
                  <a:srgbClr val="000000">
                    <a:alpha val="100000"/>
                  </a:srgbClr>
                </a:gs>
                <a:gs pos="100000">
                  <a:srgbClr val="F66854">
                    <a:alpha val="100000"/>
                  </a:srgbClr>
                </a:gs>
              </a:gsLst>
              <a:lin ang="0"/>
            </a:gradFill>
            <a:prstDash val="solid"/>
            <a:headEnd type="none" len="sm" w="sm"/>
            <a:tailEnd type="none" len="sm" w="sm"/>
          </a:ln>
        </p:spPr>
      </p:sp>
      <p:grpSp>
        <p:nvGrpSpPr>
          <p:cNvPr name="Group 9" id="9"/>
          <p:cNvGrpSpPr/>
          <p:nvPr/>
        </p:nvGrpSpPr>
        <p:grpSpPr>
          <a:xfrm rot="0">
            <a:off x="7096946" y="4295359"/>
            <a:ext cx="2696083" cy="3889602"/>
            <a:chOff x="0" y="0"/>
            <a:chExt cx="710080" cy="1024422"/>
          </a:xfrm>
        </p:grpSpPr>
        <p:sp>
          <p:nvSpPr>
            <p:cNvPr name="Freeform 10" id="10"/>
            <p:cNvSpPr/>
            <p:nvPr/>
          </p:nvSpPr>
          <p:spPr>
            <a:xfrm flipH="false" flipV="false" rot="0">
              <a:off x="0" y="0"/>
              <a:ext cx="710080" cy="1024422"/>
            </a:xfrm>
            <a:custGeom>
              <a:avLst/>
              <a:gdLst/>
              <a:ahLst/>
              <a:cxnLst/>
              <a:rect r="r" b="b" t="t" l="l"/>
              <a:pathLst>
                <a:path h="1024422" w="710080">
                  <a:moveTo>
                    <a:pt x="97632" y="0"/>
                  </a:moveTo>
                  <a:lnTo>
                    <a:pt x="612447" y="0"/>
                  </a:lnTo>
                  <a:cubicBezTo>
                    <a:pt x="666368" y="0"/>
                    <a:pt x="710080" y="43712"/>
                    <a:pt x="710080" y="97632"/>
                  </a:cubicBezTo>
                  <a:lnTo>
                    <a:pt x="710080" y="926789"/>
                  </a:lnTo>
                  <a:cubicBezTo>
                    <a:pt x="710080" y="980710"/>
                    <a:pt x="666368" y="1024422"/>
                    <a:pt x="612447" y="1024422"/>
                  </a:cubicBezTo>
                  <a:lnTo>
                    <a:pt x="97632" y="1024422"/>
                  </a:lnTo>
                  <a:cubicBezTo>
                    <a:pt x="43712" y="1024422"/>
                    <a:pt x="0" y="980710"/>
                    <a:pt x="0" y="926789"/>
                  </a:cubicBezTo>
                  <a:lnTo>
                    <a:pt x="0" y="97632"/>
                  </a:lnTo>
                  <a:cubicBezTo>
                    <a:pt x="0" y="43712"/>
                    <a:pt x="43712" y="0"/>
                    <a:pt x="97632" y="0"/>
                  </a:cubicBezTo>
                  <a:close/>
                </a:path>
              </a:pathLst>
            </a:custGeom>
            <a:solidFill>
              <a:srgbClr val="000000">
                <a:alpha val="60000"/>
              </a:srgbClr>
            </a:solidFill>
            <a:ln w="19050" cap="rnd">
              <a:gradFill>
                <a:gsLst>
                  <a:gs pos="0">
                    <a:srgbClr val="000000">
                      <a:alpha val="60000"/>
                    </a:srgbClr>
                  </a:gs>
                  <a:gs pos="100000">
                    <a:srgbClr val="F66854">
                      <a:alpha val="60000"/>
                    </a:srgbClr>
                  </a:gs>
                </a:gsLst>
                <a:lin ang="0"/>
              </a:gradFill>
              <a:prstDash val="solid"/>
              <a:round/>
            </a:ln>
          </p:spPr>
        </p:sp>
        <p:sp>
          <p:nvSpPr>
            <p:cNvPr name="TextBox 11" id="11"/>
            <p:cNvSpPr txBox="true"/>
            <p:nvPr/>
          </p:nvSpPr>
          <p:spPr>
            <a:xfrm>
              <a:off x="0" y="-47625"/>
              <a:ext cx="710080" cy="1072047"/>
            </a:xfrm>
            <a:prstGeom prst="rect">
              <a:avLst/>
            </a:prstGeom>
          </p:spPr>
          <p:txBody>
            <a:bodyPr anchor="ctr" rtlCol="false" tIns="50800" lIns="50800" bIns="50800" rIns="50800"/>
            <a:lstStyle/>
            <a:p>
              <a:pPr algn="ctr">
                <a:lnSpc>
                  <a:spcPts val="2800"/>
                </a:lnSpc>
              </a:pPr>
            </a:p>
          </p:txBody>
        </p:sp>
      </p:grpSp>
      <p:grpSp>
        <p:nvGrpSpPr>
          <p:cNvPr name="Group 12" id="12"/>
          <p:cNvGrpSpPr/>
          <p:nvPr/>
        </p:nvGrpSpPr>
        <p:grpSpPr>
          <a:xfrm rot="0">
            <a:off x="4109235" y="4295359"/>
            <a:ext cx="2696083" cy="3889602"/>
            <a:chOff x="0" y="0"/>
            <a:chExt cx="710080" cy="1024422"/>
          </a:xfrm>
        </p:grpSpPr>
        <p:sp>
          <p:nvSpPr>
            <p:cNvPr name="Freeform 13" id="13"/>
            <p:cNvSpPr/>
            <p:nvPr/>
          </p:nvSpPr>
          <p:spPr>
            <a:xfrm flipH="false" flipV="false" rot="0">
              <a:off x="0" y="0"/>
              <a:ext cx="710080" cy="1024422"/>
            </a:xfrm>
            <a:custGeom>
              <a:avLst/>
              <a:gdLst/>
              <a:ahLst/>
              <a:cxnLst/>
              <a:rect r="r" b="b" t="t" l="l"/>
              <a:pathLst>
                <a:path h="1024422" w="710080">
                  <a:moveTo>
                    <a:pt x="97632" y="0"/>
                  </a:moveTo>
                  <a:lnTo>
                    <a:pt x="612447" y="0"/>
                  </a:lnTo>
                  <a:cubicBezTo>
                    <a:pt x="666368" y="0"/>
                    <a:pt x="710080" y="43712"/>
                    <a:pt x="710080" y="97632"/>
                  </a:cubicBezTo>
                  <a:lnTo>
                    <a:pt x="710080" y="926789"/>
                  </a:lnTo>
                  <a:cubicBezTo>
                    <a:pt x="710080" y="980710"/>
                    <a:pt x="666368" y="1024422"/>
                    <a:pt x="612447" y="1024422"/>
                  </a:cubicBezTo>
                  <a:lnTo>
                    <a:pt x="97632" y="1024422"/>
                  </a:lnTo>
                  <a:cubicBezTo>
                    <a:pt x="43712" y="1024422"/>
                    <a:pt x="0" y="980710"/>
                    <a:pt x="0" y="926789"/>
                  </a:cubicBezTo>
                  <a:lnTo>
                    <a:pt x="0" y="97632"/>
                  </a:lnTo>
                  <a:cubicBezTo>
                    <a:pt x="0" y="43712"/>
                    <a:pt x="43712" y="0"/>
                    <a:pt x="97632" y="0"/>
                  </a:cubicBezTo>
                  <a:close/>
                </a:path>
              </a:pathLst>
            </a:custGeom>
            <a:solidFill>
              <a:srgbClr val="000000">
                <a:alpha val="60000"/>
              </a:srgbClr>
            </a:solidFill>
            <a:ln w="19050" cap="rnd">
              <a:gradFill>
                <a:gsLst>
                  <a:gs pos="0">
                    <a:srgbClr val="000000">
                      <a:alpha val="60000"/>
                    </a:srgbClr>
                  </a:gs>
                  <a:gs pos="100000">
                    <a:srgbClr val="F66854">
                      <a:alpha val="60000"/>
                    </a:srgbClr>
                  </a:gs>
                </a:gsLst>
                <a:lin ang="0"/>
              </a:gradFill>
              <a:prstDash val="solid"/>
              <a:round/>
            </a:ln>
          </p:spPr>
        </p:sp>
        <p:sp>
          <p:nvSpPr>
            <p:cNvPr name="TextBox 14" id="14"/>
            <p:cNvSpPr txBox="true"/>
            <p:nvPr/>
          </p:nvSpPr>
          <p:spPr>
            <a:xfrm>
              <a:off x="0" y="-47625"/>
              <a:ext cx="710080" cy="1072047"/>
            </a:xfrm>
            <a:prstGeom prst="rect">
              <a:avLst/>
            </a:prstGeom>
          </p:spPr>
          <p:txBody>
            <a:bodyPr anchor="ctr" rtlCol="false" tIns="50800" lIns="50800" bIns="50800" rIns="50800"/>
            <a:lstStyle/>
            <a:p>
              <a:pPr algn="ctr">
                <a:lnSpc>
                  <a:spcPts val="2800"/>
                </a:lnSpc>
              </a:pPr>
            </a:p>
          </p:txBody>
        </p:sp>
      </p:grpSp>
      <p:sp>
        <p:nvSpPr>
          <p:cNvPr name="Freeform 15" id="15"/>
          <p:cNvSpPr/>
          <p:nvPr/>
        </p:nvSpPr>
        <p:spPr>
          <a:xfrm flipH="false" flipV="false" rot="0">
            <a:off x="1760894" y="4656245"/>
            <a:ext cx="1423348" cy="1423348"/>
          </a:xfrm>
          <a:custGeom>
            <a:avLst/>
            <a:gdLst/>
            <a:ahLst/>
            <a:cxnLst/>
            <a:rect r="r" b="b" t="t" l="l"/>
            <a:pathLst>
              <a:path h="1423348" w="1423348">
                <a:moveTo>
                  <a:pt x="0" y="0"/>
                </a:moveTo>
                <a:lnTo>
                  <a:pt x="1423348" y="0"/>
                </a:lnTo>
                <a:lnTo>
                  <a:pt x="1423348" y="1423348"/>
                </a:lnTo>
                <a:lnTo>
                  <a:pt x="0" y="1423348"/>
                </a:lnTo>
                <a:lnTo>
                  <a:pt x="0" y="0"/>
                </a:lnTo>
                <a:close/>
              </a:path>
            </a:pathLst>
          </a:custGeom>
          <a:blipFill>
            <a:blip r:embed="rId3"/>
            <a:stretch>
              <a:fillRect l="0" t="0" r="0" b="0"/>
            </a:stretch>
          </a:blipFill>
        </p:spPr>
      </p:sp>
      <p:sp>
        <p:nvSpPr>
          <p:cNvPr name="Freeform 16" id="16"/>
          <p:cNvSpPr/>
          <p:nvPr/>
        </p:nvSpPr>
        <p:spPr>
          <a:xfrm flipH="false" flipV="false" rot="0">
            <a:off x="4783587" y="4564825"/>
            <a:ext cx="1437883" cy="1552371"/>
          </a:xfrm>
          <a:custGeom>
            <a:avLst/>
            <a:gdLst/>
            <a:ahLst/>
            <a:cxnLst/>
            <a:rect r="r" b="b" t="t" l="l"/>
            <a:pathLst>
              <a:path h="1552371" w="1437883">
                <a:moveTo>
                  <a:pt x="0" y="0"/>
                </a:moveTo>
                <a:lnTo>
                  <a:pt x="1437883" y="0"/>
                </a:lnTo>
                <a:lnTo>
                  <a:pt x="1437883" y="1552370"/>
                </a:lnTo>
                <a:lnTo>
                  <a:pt x="0" y="1552370"/>
                </a:lnTo>
                <a:lnTo>
                  <a:pt x="0" y="0"/>
                </a:lnTo>
                <a:close/>
              </a:path>
            </a:pathLst>
          </a:custGeom>
          <a:blipFill>
            <a:blip r:embed="rId4"/>
            <a:stretch>
              <a:fillRect l="0" t="0" r="0" b="0"/>
            </a:stretch>
          </a:blipFill>
        </p:spPr>
      </p:sp>
      <p:sp>
        <p:nvSpPr>
          <p:cNvPr name="Freeform 17" id="17"/>
          <p:cNvSpPr/>
          <p:nvPr/>
        </p:nvSpPr>
        <p:spPr>
          <a:xfrm flipH="false" flipV="false" rot="0">
            <a:off x="7209206" y="4575793"/>
            <a:ext cx="2238502" cy="1379477"/>
          </a:xfrm>
          <a:custGeom>
            <a:avLst/>
            <a:gdLst/>
            <a:ahLst/>
            <a:cxnLst/>
            <a:rect r="r" b="b" t="t" l="l"/>
            <a:pathLst>
              <a:path h="1379477" w="2238502">
                <a:moveTo>
                  <a:pt x="0" y="0"/>
                </a:moveTo>
                <a:lnTo>
                  <a:pt x="2238502" y="0"/>
                </a:lnTo>
                <a:lnTo>
                  <a:pt x="2238502" y="1379477"/>
                </a:lnTo>
                <a:lnTo>
                  <a:pt x="0" y="1379477"/>
                </a:lnTo>
                <a:lnTo>
                  <a:pt x="0" y="0"/>
                </a:lnTo>
                <a:close/>
              </a:path>
            </a:pathLst>
          </a:custGeom>
          <a:blipFill>
            <a:blip r:embed="rId5"/>
            <a:stretch>
              <a:fillRect l="0" t="0" r="0" b="0"/>
            </a:stretch>
          </a:blipFill>
        </p:spPr>
      </p:sp>
      <p:sp>
        <p:nvSpPr>
          <p:cNvPr name="Freeform 18" id="18"/>
          <p:cNvSpPr/>
          <p:nvPr/>
        </p:nvSpPr>
        <p:spPr>
          <a:xfrm flipH="false" flipV="false" rot="0">
            <a:off x="10250229" y="3081636"/>
            <a:ext cx="7717694" cy="5103325"/>
          </a:xfrm>
          <a:custGeom>
            <a:avLst/>
            <a:gdLst/>
            <a:ahLst/>
            <a:cxnLst/>
            <a:rect r="r" b="b" t="t" l="l"/>
            <a:pathLst>
              <a:path h="5103325" w="7717694">
                <a:moveTo>
                  <a:pt x="0" y="0"/>
                </a:moveTo>
                <a:lnTo>
                  <a:pt x="7717694" y="0"/>
                </a:lnTo>
                <a:lnTo>
                  <a:pt x="7717694" y="5103325"/>
                </a:lnTo>
                <a:lnTo>
                  <a:pt x="0" y="5103325"/>
                </a:lnTo>
                <a:lnTo>
                  <a:pt x="0" y="0"/>
                </a:lnTo>
                <a:close/>
              </a:path>
            </a:pathLst>
          </a:custGeom>
          <a:blipFill>
            <a:blip r:embed="rId6"/>
            <a:stretch>
              <a:fillRect l="0" t="0" r="0" b="0"/>
            </a:stretch>
          </a:blipFill>
        </p:spPr>
      </p:sp>
      <p:sp>
        <p:nvSpPr>
          <p:cNvPr name="TextBox 19" id="19"/>
          <p:cNvSpPr txBox="true"/>
          <p:nvPr/>
        </p:nvSpPr>
        <p:spPr>
          <a:xfrm rot="0">
            <a:off x="1760894" y="1607810"/>
            <a:ext cx="9228593" cy="1786255"/>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TT Interphases Bold"/>
                <a:ea typeface="TT Interphases Bold"/>
                <a:cs typeface="TT Interphases Bold"/>
                <a:sym typeface="TT Interphases Bold"/>
              </a:rPr>
              <a:t>DATA PREPROCESSING</a:t>
            </a:r>
          </a:p>
        </p:txBody>
      </p:sp>
      <p:sp>
        <p:nvSpPr>
          <p:cNvPr name="TextBox 20" id="20"/>
          <p:cNvSpPr txBox="true"/>
          <p:nvPr/>
        </p:nvSpPr>
        <p:spPr>
          <a:xfrm rot="0">
            <a:off x="1662810" y="6069570"/>
            <a:ext cx="1703475" cy="1054100"/>
          </a:xfrm>
          <a:prstGeom prst="rect">
            <a:avLst/>
          </a:prstGeom>
        </p:spPr>
        <p:txBody>
          <a:bodyPr anchor="t" rtlCol="false" tIns="0" lIns="0" bIns="0" rIns="0">
            <a:spAutoFit/>
          </a:bodyPr>
          <a:lstStyle/>
          <a:p>
            <a:pPr algn="ctr" marL="0" indent="0" lvl="0">
              <a:lnSpc>
                <a:spcPts val="2800"/>
              </a:lnSpc>
              <a:spcBef>
                <a:spcPct val="0"/>
              </a:spcBef>
            </a:pPr>
            <a:r>
              <a:rPr lang="en-US" b="true" sz="2000">
                <a:solidFill>
                  <a:srgbClr val="FF6B57"/>
                </a:solidFill>
                <a:latin typeface="TT Interphases Bold"/>
                <a:ea typeface="TT Interphases Bold"/>
                <a:cs typeface="TT Interphases Bold"/>
                <a:sym typeface="TT Interphases Bold"/>
              </a:rPr>
              <a:t>Selected “Close” price for analysis</a:t>
            </a:r>
          </a:p>
        </p:txBody>
      </p:sp>
      <p:sp>
        <p:nvSpPr>
          <p:cNvPr name="TextBox 21" id="21"/>
          <p:cNvSpPr txBox="true"/>
          <p:nvPr/>
        </p:nvSpPr>
        <p:spPr>
          <a:xfrm rot="0">
            <a:off x="4271922" y="6069570"/>
            <a:ext cx="2370709" cy="1054100"/>
          </a:xfrm>
          <a:prstGeom prst="rect">
            <a:avLst/>
          </a:prstGeom>
        </p:spPr>
        <p:txBody>
          <a:bodyPr anchor="t" rtlCol="false" tIns="0" lIns="0" bIns="0" rIns="0">
            <a:spAutoFit/>
          </a:bodyPr>
          <a:lstStyle/>
          <a:p>
            <a:pPr algn="ctr" marL="0" indent="0" lvl="0">
              <a:lnSpc>
                <a:spcPts val="2800"/>
              </a:lnSpc>
              <a:spcBef>
                <a:spcPct val="0"/>
              </a:spcBef>
            </a:pPr>
            <a:r>
              <a:rPr lang="en-US" b="true" sz="2000">
                <a:solidFill>
                  <a:srgbClr val="FF6B57"/>
                </a:solidFill>
                <a:latin typeface="TT Interphases Bold"/>
                <a:ea typeface="TT Interphases Bold"/>
                <a:cs typeface="TT Interphases Bold"/>
                <a:sym typeface="TT Interphases Bold"/>
              </a:rPr>
              <a:t>Normalized data using MinMaxScaler</a:t>
            </a:r>
          </a:p>
        </p:txBody>
      </p:sp>
      <p:sp>
        <p:nvSpPr>
          <p:cNvPr name="TextBox 22" id="22"/>
          <p:cNvSpPr txBox="true"/>
          <p:nvPr/>
        </p:nvSpPr>
        <p:spPr>
          <a:xfrm rot="0">
            <a:off x="7309277" y="6069570"/>
            <a:ext cx="2038359" cy="1054100"/>
          </a:xfrm>
          <a:prstGeom prst="rect">
            <a:avLst/>
          </a:prstGeom>
        </p:spPr>
        <p:txBody>
          <a:bodyPr anchor="t" rtlCol="false" tIns="0" lIns="0" bIns="0" rIns="0">
            <a:spAutoFit/>
          </a:bodyPr>
          <a:lstStyle/>
          <a:p>
            <a:pPr algn="ctr" marL="0" indent="0" lvl="0">
              <a:lnSpc>
                <a:spcPts val="2800"/>
              </a:lnSpc>
              <a:spcBef>
                <a:spcPct val="0"/>
              </a:spcBef>
            </a:pPr>
            <a:r>
              <a:rPr lang="en-US" b="true" sz="2000">
                <a:solidFill>
                  <a:srgbClr val="FF6B57"/>
                </a:solidFill>
                <a:latin typeface="TT Interphases Bold"/>
                <a:ea typeface="TT Interphases Bold"/>
                <a:cs typeface="TT Interphases Bold"/>
                <a:sym typeface="TT Interphases Bold"/>
              </a:rPr>
              <a:t>Create sequences of 5 year for training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44978" cy="812800"/>
          </a:xfrm>
        </p:grpSpPr>
        <p:sp>
          <p:nvSpPr>
            <p:cNvPr name="Freeform 3" id="3"/>
            <p:cNvSpPr/>
            <p:nvPr/>
          </p:nvSpPr>
          <p:spPr>
            <a:xfrm flipH="false" flipV="false" rot="0">
              <a:off x="0" y="0"/>
              <a:ext cx="1444978" cy="812800"/>
            </a:xfrm>
            <a:custGeom>
              <a:avLst/>
              <a:gdLst/>
              <a:ahLst/>
              <a:cxnLst/>
              <a:rect r="r" b="b" t="t" l="l"/>
              <a:pathLst>
                <a:path h="812800" w="1444978">
                  <a:moveTo>
                    <a:pt x="0" y="0"/>
                  </a:moveTo>
                  <a:lnTo>
                    <a:pt x="1444978" y="0"/>
                  </a:lnTo>
                  <a:lnTo>
                    <a:pt x="1444978" y="812800"/>
                  </a:lnTo>
                  <a:lnTo>
                    <a:pt x="0" y="812800"/>
                  </a:lnTo>
                  <a:close/>
                </a:path>
              </a:pathLst>
            </a:custGeom>
            <a:blipFill>
              <a:blip r:embed="rId2"/>
              <a:stretch>
                <a:fillRect l="-111" t="0" r="-111" b="0"/>
              </a:stretch>
            </a:blipFill>
          </p:spPr>
        </p:sp>
      </p:grpSp>
      <p:grpSp>
        <p:nvGrpSpPr>
          <p:cNvPr name="Group 4" id="4"/>
          <p:cNvGrpSpPr/>
          <p:nvPr/>
        </p:nvGrpSpPr>
        <p:grpSpPr>
          <a:xfrm rot="0">
            <a:off x="1028700" y="4337871"/>
            <a:ext cx="5757516" cy="4920429"/>
            <a:chOff x="0" y="0"/>
            <a:chExt cx="7676688" cy="6560572"/>
          </a:xfrm>
        </p:grpSpPr>
        <p:sp>
          <p:nvSpPr>
            <p:cNvPr name="TextBox 5" id="5"/>
            <p:cNvSpPr txBox="true"/>
            <p:nvPr/>
          </p:nvSpPr>
          <p:spPr>
            <a:xfrm rot="0">
              <a:off x="0" y="85725"/>
              <a:ext cx="7676688" cy="2615779"/>
            </a:xfrm>
            <a:prstGeom prst="rect">
              <a:avLst/>
            </a:prstGeom>
          </p:spPr>
          <p:txBody>
            <a:bodyPr anchor="t" rtlCol="false" tIns="0" lIns="0" bIns="0" rIns="0">
              <a:spAutoFit/>
            </a:bodyPr>
            <a:lstStyle/>
            <a:p>
              <a:pPr algn="l" marL="0" indent="0" lvl="0">
                <a:lnSpc>
                  <a:spcPts val="7630"/>
                </a:lnSpc>
              </a:pPr>
              <a:r>
                <a:rPr lang="en-US" b="true" sz="7131">
                  <a:solidFill>
                    <a:srgbClr val="FFFFFF"/>
                  </a:solidFill>
                  <a:latin typeface="TT Interphases Bold"/>
                  <a:ea typeface="TT Interphases Bold"/>
                  <a:cs typeface="TT Interphases Bold"/>
                  <a:sym typeface="TT Interphases Bold"/>
                </a:rPr>
                <a:t>Technologies Used</a:t>
              </a:r>
            </a:p>
          </p:txBody>
        </p:sp>
        <p:sp>
          <p:nvSpPr>
            <p:cNvPr name="TextBox 6" id="6"/>
            <p:cNvSpPr txBox="true"/>
            <p:nvPr/>
          </p:nvSpPr>
          <p:spPr>
            <a:xfrm rot="0">
              <a:off x="0" y="2947094"/>
              <a:ext cx="7676688" cy="3613477"/>
            </a:xfrm>
            <a:prstGeom prst="rect">
              <a:avLst/>
            </a:prstGeom>
          </p:spPr>
          <p:txBody>
            <a:bodyPr anchor="t" rtlCol="false" tIns="0" lIns="0" bIns="0" rIns="0">
              <a:spAutoFit/>
            </a:bodyPr>
            <a:lstStyle/>
            <a:p>
              <a:pPr algn="l" marL="659850" indent="-329925" lvl="1">
                <a:lnSpc>
                  <a:spcPts val="4370"/>
                </a:lnSpc>
                <a:buFont typeface="Arial"/>
                <a:buChar char="•"/>
              </a:pPr>
              <a:r>
                <a:rPr lang="en-US" b="true" sz="3056">
                  <a:solidFill>
                    <a:srgbClr val="FFFFFF"/>
                  </a:solidFill>
                  <a:latin typeface="TT Interphases Bold"/>
                  <a:ea typeface="TT Interphases Bold"/>
                  <a:cs typeface="TT Interphases Bold"/>
                  <a:sym typeface="TT Interphases Bold"/>
                </a:rPr>
                <a:t>Python</a:t>
              </a:r>
            </a:p>
            <a:p>
              <a:pPr algn="l" marL="659850" indent="-329925" lvl="1">
                <a:lnSpc>
                  <a:spcPts val="4370"/>
                </a:lnSpc>
                <a:buFont typeface="Arial"/>
                <a:buChar char="•"/>
              </a:pPr>
              <a:r>
                <a:rPr lang="en-US" b="true" sz="3056">
                  <a:solidFill>
                    <a:srgbClr val="FFFFFF"/>
                  </a:solidFill>
                  <a:latin typeface="TT Interphases Bold"/>
                  <a:ea typeface="TT Interphases Bold"/>
                  <a:cs typeface="TT Interphases Bold"/>
                  <a:sym typeface="TT Interphases Bold"/>
                </a:rPr>
                <a:t>Streamlit</a:t>
              </a:r>
            </a:p>
            <a:p>
              <a:pPr algn="l" marL="659850" indent="-329925" lvl="1">
                <a:lnSpc>
                  <a:spcPts val="4370"/>
                </a:lnSpc>
                <a:buFont typeface="Arial"/>
                <a:buChar char="•"/>
              </a:pPr>
              <a:r>
                <a:rPr lang="en-US" b="true" sz="3056">
                  <a:solidFill>
                    <a:srgbClr val="FFFFFF"/>
                  </a:solidFill>
                  <a:latin typeface="TT Interphases Bold"/>
                  <a:ea typeface="TT Interphases Bold"/>
                  <a:cs typeface="TT Interphases Bold"/>
                  <a:sym typeface="TT Interphases Bold"/>
                </a:rPr>
                <a:t>Pandas, NumPy</a:t>
              </a:r>
            </a:p>
            <a:p>
              <a:pPr algn="l" marL="659850" indent="-329925" lvl="1">
                <a:lnSpc>
                  <a:spcPts val="4370"/>
                </a:lnSpc>
                <a:buFont typeface="Arial"/>
                <a:buChar char="•"/>
              </a:pPr>
              <a:r>
                <a:rPr lang="en-US" b="true" sz="3056">
                  <a:solidFill>
                    <a:srgbClr val="FFFFFF"/>
                  </a:solidFill>
                  <a:latin typeface="TT Interphases Bold"/>
                  <a:ea typeface="TT Interphases Bold"/>
                  <a:cs typeface="TT Interphases Bold"/>
                  <a:sym typeface="TT Interphases Bold"/>
                </a:rPr>
                <a:t>Scikit-learn</a:t>
              </a:r>
            </a:p>
            <a:p>
              <a:pPr algn="l" marL="659850" indent="-329925" lvl="1">
                <a:lnSpc>
                  <a:spcPts val="4370"/>
                </a:lnSpc>
                <a:buFont typeface="Arial"/>
                <a:buChar char="•"/>
              </a:pPr>
              <a:r>
                <a:rPr lang="en-US" b="true" sz="3056">
                  <a:solidFill>
                    <a:srgbClr val="FFFFFF"/>
                  </a:solidFill>
                  <a:latin typeface="TT Interphases Bold"/>
                  <a:ea typeface="TT Interphases Bold"/>
                  <a:cs typeface="TT Interphases Bold"/>
                  <a:sym typeface="TT Interphases Bold"/>
                </a:rPr>
                <a:t>Matplotlib</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rot="628038">
            <a:off x="12564793" y="-1386196"/>
            <a:ext cx="2729333" cy="13687572"/>
          </a:xfrm>
          <a:prstGeom prst="rect">
            <a:avLst/>
          </a:prstGeom>
          <a:solidFill>
            <a:srgbClr val="000000"/>
          </a:solidFill>
        </p:spPr>
      </p:sp>
      <p:sp>
        <p:nvSpPr>
          <p:cNvPr name="Freeform 3" id="3"/>
          <p:cNvSpPr/>
          <p:nvPr/>
        </p:nvSpPr>
        <p:spPr>
          <a:xfrm flipH="false" flipV="false" rot="0">
            <a:off x="10504431" y="1646009"/>
            <a:ext cx="6010327" cy="6992558"/>
          </a:xfrm>
          <a:custGeom>
            <a:avLst/>
            <a:gdLst/>
            <a:ahLst/>
            <a:cxnLst/>
            <a:rect r="r" b="b" t="t" l="l"/>
            <a:pathLst>
              <a:path h="6992558" w="6010327">
                <a:moveTo>
                  <a:pt x="0" y="0"/>
                </a:moveTo>
                <a:lnTo>
                  <a:pt x="6010326" y="0"/>
                </a:lnTo>
                <a:lnTo>
                  <a:pt x="6010326" y="6992558"/>
                </a:lnTo>
                <a:lnTo>
                  <a:pt x="0" y="6992558"/>
                </a:lnTo>
                <a:lnTo>
                  <a:pt x="0" y="0"/>
                </a:lnTo>
                <a:close/>
              </a:path>
            </a:pathLst>
          </a:custGeom>
          <a:blipFill>
            <a:blip r:embed="rId2"/>
            <a:stretch>
              <a:fillRect l="0" t="-21488" r="0" b="0"/>
            </a:stretch>
          </a:blipFill>
        </p:spPr>
      </p:sp>
      <p:grpSp>
        <p:nvGrpSpPr>
          <p:cNvPr name="Group 4" id="4"/>
          <p:cNvGrpSpPr/>
          <p:nvPr/>
        </p:nvGrpSpPr>
        <p:grpSpPr>
          <a:xfrm rot="0">
            <a:off x="1531779" y="1646009"/>
            <a:ext cx="4825985" cy="1898531"/>
            <a:chOff x="0" y="0"/>
            <a:chExt cx="6434646" cy="2531374"/>
          </a:xfrm>
        </p:grpSpPr>
        <p:sp>
          <p:nvSpPr>
            <p:cNvPr name="TextBox 5" id="5"/>
            <p:cNvSpPr txBox="true"/>
            <p:nvPr/>
          </p:nvSpPr>
          <p:spPr>
            <a:xfrm rot="0">
              <a:off x="0" y="-66675"/>
              <a:ext cx="6434646" cy="1344295"/>
            </a:xfrm>
            <a:prstGeom prst="rect">
              <a:avLst/>
            </a:prstGeom>
          </p:spPr>
          <p:txBody>
            <a:bodyPr anchor="t" rtlCol="false" tIns="0" lIns="0" bIns="0" rIns="0">
              <a:spAutoFit/>
            </a:bodyPr>
            <a:lstStyle/>
            <a:p>
              <a:pPr algn="l" marL="0" indent="0" lvl="0">
                <a:lnSpc>
                  <a:spcPts val="8190"/>
                </a:lnSpc>
              </a:pPr>
              <a:r>
                <a:rPr lang="en-US" b="true" sz="6300">
                  <a:solidFill>
                    <a:srgbClr val="FFFFFF"/>
                  </a:solidFill>
                  <a:latin typeface="TT Interphases Bold"/>
                  <a:ea typeface="TT Interphases Bold"/>
                  <a:cs typeface="TT Interphases Bold"/>
                  <a:sym typeface="TT Interphases Bold"/>
                </a:rPr>
                <a:t>Model Used</a:t>
              </a:r>
            </a:p>
          </p:txBody>
        </p:sp>
        <p:sp>
          <p:nvSpPr>
            <p:cNvPr name="TextBox 6" id="6"/>
            <p:cNvSpPr txBox="true"/>
            <p:nvPr/>
          </p:nvSpPr>
          <p:spPr>
            <a:xfrm rot="0">
              <a:off x="0" y="1757733"/>
              <a:ext cx="6426478" cy="773642"/>
            </a:xfrm>
            <a:prstGeom prst="rect">
              <a:avLst/>
            </a:prstGeom>
          </p:spPr>
          <p:txBody>
            <a:bodyPr anchor="t" rtlCol="false" tIns="0" lIns="0" bIns="0" rIns="0">
              <a:spAutoFit/>
            </a:bodyPr>
            <a:lstStyle/>
            <a:p>
              <a:pPr algn="l" marL="0" indent="0" lvl="0">
                <a:lnSpc>
                  <a:spcPts val="4900"/>
                </a:lnSpc>
              </a:pPr>
            </a:p>
          </p:txBody>
        </p:sp>
      </p:grpSp>
      <p:sp>
        <p:nvSpPr>
          <p:cNvPr name="TextBox 7" id="7"/>
          <p:cNvSpPr txBox="true"/>
          <p:nvPr/>
        </p:nvSpPr>
        <p:spPr>
          <a:xfrm rot="0">
            <a:off x="835132" y="3230532"/>
            <a:ext cx="6484263" cy="488849"/>
          </a:xfrm>
          <a:prstGeom prst="rect">
            <a:avLst/>
          </a:prstGeom>
        </p:spPr>
        <p:txBody>
          <a:bodyPr anchor="t" rtlCol="false" tIns="0" lIns="0" bIns="0" rIns="0">
            <a:spAutoFit/>
          </a:bodyPr>
          <a:lstStyle/>
          <a:p>
            <a:pPr algn="l" marL="621569" indent="-310784" lvl="1">
              <a:lnSpc>
                <a:spcPts val="4030"/>
              </a:lnSpc>
              <a:buFont typeface="Arial"/>
              <a:buChar char="•"/>
            </a:pPr>
            <a:r>
              <a:rPr lang="en-US" b="true" sz="2878">
                <a:solidFill>
                  <a:srgbClr val="FF6B57"/>
                </a:solidFill>
                <a:latin typeface="Canva Sans Bold"/>
                <a:ea typeface="Canva Sans Bold"/>
                <a:cs typeface="Canva Sans Bold"/>
                <a:sym typeface="Canva Sans Bold"/>
              </a:rPr>
              <a:t>LSTM (Long Short-Term Memory)</a:t>
            </a:r>
          </a:p>
        </p:txBody>
      </p:sp>
      <p:sp>
        <p:nvSpPr>
          <p:cNvPr name="TextBox 8" id="8"/>
          <p:cNvSpPr txBox="true"/>
          <p:nvPr/>
        </p:nvSpPr>
        <p:spPr>
          <a:xfrm rot="0">
            <a:off x="1028700" y="5657615"/>
            <a:ext cx="3779163" cy="488849"/>
          </a:xfrm>
          <a:prstGeom prst="rect">
            <a:avLst/>
          </a:prstGeom>
        </p:spPr>
        <p:txBody>
          <a:bodyPr anchor="t" rtlCol="false" tIns="0" lIns="0" bIns="0" rIns="0">
            <a:spAutoFit/>
          </a:bodyPr>
          <a:lstStyle/>
          <a:p>
            <a:pPr algn="l" marL="621569" indent="-310784" lvl="1">
              <a:lnSpc>
                <a:spcPts val="4030"/>
              </a:lnSpc>
              <a:buFont typeface="Arial"/>
              <a:buChar char="•"/>
            </a:pPr>
            <a:r>
              <a:rPr lang="en-US" b="true" sz="2878">
                <a:solidFill>
                  <a:srgbClr val="FF6B57"/>
                </a:solidFill>
                <a:latin typeface="Canva Sans Bold"/>
                <a:ea typeface="Canva Sans Bold"/>
                <a:cs typeface="Canva Sans Bold"/>
                <a:sym typeface="Canva Sans Bold"/>
              </a:rPr>
              <a:t>Linear Regression</a:t>
            </a:r>
          </a:p>
        </p:txBody>
      </p:sp>
      <p:sp>
        <p:nvSpPr>
          <p:cNvPr name="TextBox 9" id="9"/>
          <p:cNvSpPr txBox="true"/>
          <p:nvPr/>
        </p:nvSpPr>
        <p:spPr>
          <a:xfrm rot="0">
            <a:off x="1385801" y="3767888"/>
            <a:ext cx="6949899" cy="1689703"/>
          </a:xfrm>
          <a:prstGeom prst="rect">
            <a:avLst/>
          </a:prstGeom>
        </p:spPr>
        <p:txBody>
          <a:bodyPr anchor="t" rtlCol="false" tIns="0" lIns="0" bIns="0" rIns="0">
            <a:spAutoFit/>
          </a:bodyPr>
          <a:lstStyle/>
          <a:p>
            <a:pPr algn="l" marL="523944" indent="-261972" lvl="1">
              <a:lnSpc>
                <a:spcPts val="3397"/>
              </a:lnSpc>
              <a:buFont typeface="Arial"/>
              <a:buChar char="•"/>
            </a:pPr>
            <a:r>
              <a:rPr lang="en-US" sz="2426">
                <a:solidFill>
                  <a:srgbClr val="FFFFFF"/>
                </a:solidFill>
                <a:latin typeface="Canva Sans"/>
                <a:ea typeface="Canva Sans"/>
                <a:cs typeface="Canva Sans"/>
                <a:sym typeface="Canva Sans"/>
              </a:rPr>
              <a:t>It is a </a:t>
            </a:r>
            <a:r>
              <a:rPr lang="en-US" sz="2426">
                <a:solidFill>
                  <a:srgbClr val="FFFFFF"/>
                </a:solidFill>
                <a:latin typeface="Canva Sans"/>
                <a:ea typeface="Canva Sans"/>
                <a:cs typeface="Canva Sans"/>
                <a:sym typeface="Canva Sans"/>
              </a:rPr>
              <a:t>deep learning model</a:t>
            </a:r>
          </a:p>
          <a:p>
            <a:pPr algn="l" marL="523944" indent="-261972" lvl="1">
              <a:lnSpc>
                <a:spcPts val="3397"/>
              </a:lnSpc>
              <a:buFont typeface="Arial"/>
              <a:buChar char="•"/>
            </a:pPr>
            <a:r>
              <a:rPr lang="en-US" sz="2426">
                <a:solidFill>
                  <a:srgbClr val="FFFFFF"/>
                </a:solidFill>
                <a:latin typeface="Canva Sans"/>
                <a:ea typeface="Canva Sans"/>
                <a:cs typeface="Canva Sans"/>
                <a:sym typeface="Canva Sans"/>
              </a:rPr>
              <a:t>Best for time-series data like stock prices</a:t>
            </a:r>
          </a:p>
          <a:p>
            <a:pPr algn="l" marL="523944" indent="-261972" lvl="1">
              <a:lnSpc>
                <a:spcPts val="3397"/>
              </a:lnSpc>
              <a:buFont typeface="Arial"/>
              <a:buChar char="•"/>
            </a:pPr>
            <a:r>
              <a:rPr lang="en-US" sz="2426">
                <a:solidFill>
                  <a:srgbClr val="FFFFFF"/>
                </a:solidFill>
                <a:latin typeface="Canva Sans"/>
                <a:ea typeface="Canva Sans"/>
                <a:cs typeface="Canva Sans"/>
                <a:sym typeface="Canva Sans"/>
              </a:rPr>
              <a:t>It learns patterns from past data</a:t>
            </a:r>
          </a:p>
          <a:p>
            <a:pPr algn="l">
              <a:lnSpc>
                <a:spcPts val="3397"/>
              </a:lnSpc>
            </a:pPr>
          </a:p>
        </p:txBody>
      </p:sp>
      <p:sp>
        <p:nvSpPr>
          <p:cNvPr name="TextBox 10" id="10"/>
          <p:cNvSpPr txBox="true"/>
          <p:nvPr/>
        </p:nvSpPr>
        <p:spPr>
          <a:xfrm rot="0">
            <a:off x="1385801" y="6194090"/>
            <a:ext cx="6949899" cy="1689703"/>
          </a:xfrm>
          <a:prstGeom prst="rect">
            <a:avLst/>
          </a:prstGeom>
        </p:spPr>
        <p:txBody>
          <a:bodyPr anchor="t" rtlCol="false" tIns="0" lIns="0" bIns="0" rIns="0">
            <a:spAutoFit/>
          </a:bodyPr>
          <a:lstStyle/>
          <a:p>
            <a:pPr algn="l" marL="523944" indent="-261972" lvl="1">
              <a:lnSpc>
                <a:spcPts val="3397"/>
              </a:lnSpc>
              <a:buFont typeface="Arial"/>
              <a:buChar char="•"/>
            </a:pPr>
            <a:r>
              <a:rPr lang="en-US" sz="2426">
                <a:solidFill>
                  <a:srgbClr val="FFFFFF"/>
                </a:solidFill>
                <a:latin typeface="Canva Sans"/>
                <a:ea typeface="Canva Sans"/>
                <a:cs typeface="Canva Sans"/>
                <a:sym typeface="Canva Sans"/>
              </a:rPr>
              <a:t>It is a simpl</a:t>
            </a:r>
            <a:r>
              <a:rPr lang="en-US" sz="2426">
                <a:solidFill>
                  <a:srgbClr val="FFFFFF"/>
                </a:solidFill>
                <a:latin typeface="Canva Sans"/>
                <a:ea typeface="Canva Sans"/>
                <a:cs typeface="Canva Sans"/>
                <a:sym typeface="Canva Sans"/>
              </a:rPr>
              <a:t>e machine learning model</a:t>
            </a:r>
          </a:p>
          <a:p>
            <a:pPr algn="l" marL="523944" indent="-261972" lvl="1">
              <a:lnSpc>
                <a:spcPts val="3397"/>
              </a:lnSpc>
              <a:buFont typeface="Arial"/>
              <a:buChar char="•"/>
            </a:pPr>
            <a:r>
              <a:rPr lang="en-US" sz="2426">
                <a:solidFill>
                  <a:srgbClr val="FFFFFF"/>
                </a:solidFill>
                <a:latin typeface="Canva Sans"/>
                <a:ea typeface="Canva Sans"/>
                <a:cs typeface="Canva Sans"/>
                <a:sym typeface="Canva Sans"/>
              </a:rPr>
              <a:t>I</a:t>
            </a:r>
            <a:r>
              <a:rPr lang="en-US" sz="2426">
                <a:solidFill>
                  <a:srgbClr val="FFFFFF"/>
                </a:solidFill>
                <a:latin typeface="Canva Sans"/>
                <a:ea typeface="Canva Sans"/>
                <a:cs typeface="Canva Sans"/>
                <a:sym typeface="Canva Sans"/>
              </a:rPr>
              <a:t>t predicts values using a straight-line approach</a:t>
            </a:r>
          </a:p>
          <a:p>
            <a:pPr algn="l">
              <a:lnSpc>
                <a:spcPts val="3397"/>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514350" y="4508015"/>
            <a:ext cx="5339638" cy="3965254"/>
            <a:chOff x="0" y="0"/>
            <a:chExt cx="1094522" cy="812800"/>
          </a:xfrm>
        </p:grpSpPr>
        <p:sp>
          <p:nvSpPr>
            <p:cNvPr name="Freeform 3" id="3"/>
            <p:cNvSpPr/>
            <p:nvPr/>
          </p:nvSpPr>
          <p:spPr>
            <a:xfrm flipH="false" flipV="false" rot="0">
              <a:off x="0" y="0"/>
              <a:ext cx="1094522" cy="812800"/>
            </a:xfrm>
            <a:custGeom>
              <a:avLst/>
              <a:gdLst/>
              <a:ahLst/>
              <a:cxnLst/>
              <a:rect r="r" b="b" t="t" l="l"/>
              <a:pathLst>
                <a:path h="812800" w="1094522">
                  <a:moveTo>
                    <a:pt x="88444" y="0"/>
                  </a:moveTo>
                  <a:lnTo>
                    <a:pt x="1006078" y="0"/>
                  </a:lnTo>
                  <a:cubicBezTo>
                    <a:pt x="1054924" y="0"/>
                    <a:pt x="1094522" y="39598"/>
                    <a:pt x="1094522" y="88444"/>
                  </a:cubicBezTo>
                  <a:lnTo>
                    <a:pt x="1094522" y="724356"/>
                  </a:lnTo>
                  <a:cubicBezTo>
                    <a:pt x="1094522" y="773202"/>
                    <a:pt x="1054924" y="812800"/>
                    <a:pt x="1006078" y="812800"/>
                  </a:cubicBezTo>
                  <a:lnTo>
                    <a:pt x="88444" y="812800"/>
                  </a:lnTo>
                  <a:cubicBezTo>
                    <a:pt x="39598" y="812800"/>
                    <a:pt x="0" y="773202"/>
                    <a:pt x="0" y="724356"/>
                  </a:cubicBezTo>
                  <a:lnTo>
                    <a:pt x="0" y="88444"/>
                  </a:lnTo>
                  <a:cubicBezTo>
                    <a:pt x="0" y="39598"/>
                    <a:pt x="39598" y="0"/>
                    <a:pt x="88444" y="0"/>
                  </a:cubicBezTo>
                  <a:close/>
                </a:path>
              </a:pathLst>
            </a:custGeom>
            <a:blipFill>
              <a:blip r:embed="rId2"/>
              <a:stretch>
                <a:fillRect l="0" t="-5126" r="0" b="-5126"/>
              </a:stretch>
            </a:blipFill>
          </p:spPr>
        </p:sp>
      </p:grpSp>
      <p:sp>
        <p:nvSpPr>
          <p:cNvPr name="TextBox 4" id="4"/>
          <p:cNvSpPr txBox="true"/>
          <p:nvPr/>
        </p:nvSpPr>
        <p:spPr>
          <a:xfrm rot="0">
            <a:off x="1597735" y="9046160"/>
            <a:ext cx="3172867" cy="400213"/>
          </a:xfrm>
          <a:prstGeom prst="rect">
            <a:avLst/>
          </a:prstGeom>
        </p:spPr>
        <p:txBody>
          <a:bodyPr anchor="t" rtlCol="false" tIns="0" lIns="0" bIns="0" rIns="0">
            <a:spAutoFit/>
          </a:bodyPr>
          <a:lstStyle/>
          <a:p>
            <a:pPr algn="l" marL="0" indent="0" lvl="0">
              <a:lnSpc>
                <a:spcPts val="2982"/>
              </a:lnSpc>
              <a:spcBef>
                <a:spcPct val="0"/>
              </a:spcBef>
            </a:pPr>
            <a:r>
              <a:rPr lang="en-US" b="true" sz="3313" strike="noStrike" u="none">
                <a:solidFill>
                  <a:srgbClr val="FFFFFF"/>
                </a:solidFill>
                <a:latin typeface="TT Interphases Bold"/>
                <a:ea typeface="TT Interphases Bold"/>
                <a:cs typeface="TT Interphases Bold"/>
                <a:sym typeface="TT Interphases Bold"/>
              </a:rPr>
              <a:t>Take Past Data</a:t>
            </a:r>
          </a:p>
        </p:txBody>
      </p:sp>
      <p:grpSp>
        <p:nvGrpSpPr>
          <p:cNvPr name="Group 5" id="5"/>
          <p:cNvGrpSpPr/>
          <p:nvPr/>
        </p:nvGrpSpPr>
        <p:grpSpPr>
          <a:xfrm rot="0">
            <a:off x="6217006" y="4270167"/>
            <a:ext cx="5853988" cy="4347214"/>
            <a:chOff x="0" y="0"/>
            <a:chExt cx="1094522" cy="812800"/>
          </a:xfrm>
        </p:grpSpPr>
        <p:sp>
          <p:nvSpPr>
            <p:cNvPr name="Freeform 6" id="6"/>
            <p:cNvSpPr/>
            <p:nvPr/>
          </p:nvSpPr>
          <p:spPr>
            <a:xfrm flipH="false" flipV="false" rot="0">
              <a:off x="0" y="0"/>
              <a:ext cx="1094522" cy="812800"/>
            </a:xfrm>
            <a:custGeom>
              <a:avLst/>
              <a:gdLst/>
              <a:ahLst/>
              <a:cxnLst/>
              <a:rect r="r" b="b" t="t" l="l"/>
              <a:pathLst>
                <a:path h="812800" w="1094522">
                  <a:moveTo>
                    <a:pt x="89930" y="0"/>
                  </a:moveTo>
                  <a:lnTo>
                    <a:pt x="1004592" y="0"/>
                  </a:lnTo>
                  <a:cubicBezTo>
                    <a:pt x="1028443" y="0"/>
                    <a:pt x="1051317" y="9475"/>
                    <a:pt x="1068182" y="26340"/>
                  </a:cubicBezTo>
                  <a:cubicBezTo>
                    <a:pt x="1085047" y="43205"/>
                    <a:pt x="1094522" y="66079"/>
                    <a:pt x="1094522" y="89930"/>
                  </a:cubicBezTo>
                  <a:lnTo>
                    <a:pt x="1094522" y="722870"/>
                  </a:lnTo>
                  <a:cubicBezTo>
                    <a:pt x="1094522" y="746721"/>
                    <a:pt x="1085047" y="769595"/>
                    <a:pt x="1068182" y="786460"/>
                  </a:cubicBezTo>
                  <a:cubicBezTo>
                    <a:pt x="1051317" y="803325"/>
                    <a:pt x="1028443" y="812800"/>
                    <a:pt x="1004592" y="812800"/>
                  </a:cubicBezTo>
                  <a:lnTo>
                    <a:pt x="89930" y="812800"/>
                  </a:lnTo>
                  <a:cubicBezTo>
                    <a:pt x="66079" y="812800"/>
                    <a:pt x="43205" y="803325"/>
                    <a:pt x="26340" y="786460"/>
                  </a:cubicBezTo>
                  <a:cubicBezTo>
                    <a:pt x="9475" y="769595"/>
                    <a:pt x="0" y="746721"/>
                    <a:pt x="0" y="722870"/>
                  </a:cubicBezTo>
                  <a:lnTo>
                    <a:pt x="0" y="89930"/>
                  </a:lnTo>
                  <a:cubicBezTo>
                    <a:pt x="0" y="66079"/>
                    <a:pt x="9475" y="43205"/>
                    <a:pt x="26340" y="26340"/>
                  </a:cubicBezTo>
                  <a:cubicBezTo>
                    <a:pt x="43205" y="9475"/>
                    <a:pt x="66079" y="0"/>
                    <a:pt x="89930" y="0"/>
                  </a:cubicBezTo>
                  <a:close/>
                </a:path>
              </a:pathLst>
            </a:custGeom>
            <a:blipFill>
              <a:blip r:embed="rId3"/>
              <a:stretch>
                <a:fillRect l="-517" t="0" r="-517" b="0"/>
              </a:stretch>
            </a:blipFill>
          </p:spPr>
        </p:sp>
      </p:grpSp>
      <p:sp>
        <p:nvSpPr>
          <p:cNvPr name="TextBox 7" id="7"/>
          <p:cNvSpPr txBox="true"/>
          <p:nvPr/>
        </p:nvSpPr>
        <p:spPr>
          <a:xfrm rot="0">
            <a:off x="7680488" y="9244889"/>
            <a:ext cx="2926964" cy="439332"/>
          </a:xfrm>
          <a:prstGeom prst="rect">
            <a:avLst/>
          </a:prstGeom>
        </p:spPr>
        <p:txBody>
          <a:bodyPr anchor="t" rtlCol="false" tIns="0" lIns="0" bIns="0" rIns="0">
            <a:spAutoFit/>
          </a:bodyPr>
          <a:lstStyle/>
          <a:p>
            <a:pPr algn="l" marL="0" indent="0" lvl="0">
              <a:lnSpc>
                <a:spcPts val="3269"/>
              </a:lnSpc>
              <a:spcBef>
                <a:spcPct val="0"/>
              </a:spcBef>
            </a:pPr>
            <a:r>
              <a:rPr lang="en-US" b="true" sz="3632" strike="noStrike" u="none">
                <a:solidFill>
                  <a:srgbClr val="FFFFFF"/>
                </a:solidFill>
                <a:latin typeface="TT Interphases Bold"/>
                <a:ea typeface="TT Interphases Bold"/>
                <a:cs typeface="TT Interphases Bold"/>
                <a:sym typeface="TT Interphases Bold"/>
              </a:rPr>
              <a:t>Train Model</a:t>
            </a:r>
          </a:p>
        </p:txBody>
      </p:sp>
      <p:grpSp>
        <p:nvGrpSpPr>
          <p:cNvPr name="Group 8" id="8"/>
          <p:cNvGrpSpPr/>
          <p:nvPr/>
        </p:nvGrpSpPr>
        <p:grpSpPr>
          <a:xfrm rot="0">
            <a:off x="12434012" y="4508015"/>
            <a:ext cx="5339638" cy="3965254"/>
            <a:chOff x="0" y="0"/>
            <a:chExt cx="1094522" cy="812800"/>
          </a:xfrm>
        </p:grpSpPr>
        <p:sp>
          <p:nvSpPr>
            <p:cNvPr name="Freeform 9" id="9"/>
            <p:cNvSpPr/>
            <p:nvPr/>
          </p:nvSpPr>
          <p:spPr>
            <a:xfrm flipH="false" flipV="false" rot="0">
              <a:off x="0" y="0"/>
              <a:ext cx="1094522" cy="812800"/>
            </a:xfrm>
            <a:custGeom>
              <a:avLst/>
              <a:gdLst/>
              <a:ahLst/>
              <a:cxnLst/>
              <a:rect r="r" b="b" t="t" l="l"/>
              <a:pathLst>
                <a:path h="812800" w="1094522">
                  <a:moveTo>
                    <a:pt x="92793" y="0"/>
                  </a:moveTo>
                  <a:lnTo>
                    <a:pt x="1001729" y="0"/>
                  </a:lnTo>
                  <a:cubicBezTo>
                    <a:pt x="1052977" y="0"/>
                    <a:pt x="1094522" y="41545"/>
                    <a:pt x="1094522" y="92793"/>
                  </a:cubicBezTo>
                  <a:lnTo>
                    <a:pt x="1094522" y="720007"/>
                  </a:lnTo>
                  <a:cubicBezTo>
                    <a:pt x="1094522" y="771255"/>
                    <a:pt x="1052977" y="812800"/>
                    <a:pt x="1001729" y="812800"/>
                  </a:cubicBezTo>
                  <a:lnTo>
                    <a:pt x="92793" y="812800"/>
                  </a:lnTo>
                  <a:cubicBezTo>
                    <a:pt x="41545" y="812800"/>
                    <a:pt x="0" y="771255"/>
                    <a:pt x="0" y="720007"/>
                  </a:cubicBezTo>
                  <a:lnTo>
                    <a:pt x="0" y="92793"/>
                  </a:lnTo>
                  <a:cubicBezTo>
                    <a:pt x="0" y="41545"/>
                    <a:pt x="41545" y="0"/>
                    <a:pt x="92793" y="0"/>
                  </a:cubicBezTo>
                  <a:close/>
                </a:path>
              </a:pathLst>
            </a:custGeom>
            <a:blipFill>
              <a:blip r:embed="rId4"/>
              <a:stretch>
                <a:fillRect l="-15375" t="0" r="-15375" b="0"/>
              </a:stretch>
            </a:blipFill>
          </p:spPr>
        </p:sp>
      </p:grpSp>
      <p:sp>
        <p:nvSpPr>
          <p:cNvPr name="TextBox 10" id="10"/>
          <p:cNvSpPr txBox="true"/>
          <p:nvPr/>
        </p:nvSpPr>
        <p:spPr>
          <a:xfrm rot="0">
            <a:off x="12962466" y="9046160"/>
            <a:ext cx="4811157" cy="400213"/>
          </a:xfrm>
          <a:prstGeom prst="rect">
            <a:avLst/>
          </a:prstGeom>
        </p:spPr>
        <p:txBody>
          <a:bodyPr anchor="t" rtlCol="false" tIns="0" lIns="0" bIns="0" rIns="0">
            <a:spAutoFit/>
          </a:bodyPr>
          <a:lstStyle/>
          <a:p>
            <a:pPr algn="l" marL="0" indent="0" lvl="0">
              <a:lnSpc>
                <a:spcPts val="2982"/>
              </a:lnSpc>
              <a:spcBef>
                <a:spcPct val="0"/>
              </a:spcBef>
            </a:pPr>
            <a:r>
              <a:rPr lang="en-US" b="true" sz="3313" strike="noStrike" u="none">
                <a:solidFill>
                  <a:srgbClr val="FFFFFF"/>
                </a:solidFill>
                <a:latin typeface="TT Interphases Bold"/>
                <a:ea typeface="TT Interphases Bold"/>
                <a:cs typeface="TT Interphases Bold"/>
                <a:sym typeface="TT Interphases Bold"/>
              </a:rPr>
              <a:t>Predict Next Day  Price</a:t>
            </a:r>
          </a:p>
        </p:txBody>
      </p:sp>
      <p:grpSp>
        <p:nvGrpSpPr>
          <p:cNvPr name="Group 11" id="11"/>
          <p:cNvGrpSpPr/>
          <p:nvPr/>
        </p:nvGrpSpPr>
        <p:grpSpPr>
          <a:xfrm rot="0">
            <a:off x="1028700" y="1217778"/>
            <a:ext cx="16230600" cy="1994979"/>
            <a:chOff x="0" y="0"/>
            <a:chExt cx="4274726" cy="525427"/>
          </a:xfrm>
        </p:grpSpPr>
        <p:sp>
          <p:nvSpPr>
            <p:cNvPr name="Freeform 12" id="12"/>
            <p:cNvSpPr/>
            <p:nvPr/>
          </p:nvSpPr>
          <p:spPr>
            <a:xfrm flipH="false" flipV="false" rot="0">
              <a:off x="0" y="0"/>
              <a:ext cx="4274726" cy="525427"/>
            </a:xfrm>
            <a:custGeom>
              <a:avLst/>
              <a:gdLst/>
              <a:ahLst/>
              <a:cxnLst/>
              <a:rect r="r" b="b" t="t" l="l"/>
              <a:pathLst>
                <a:path h="525427" w="4274726">
                  <a:moveTo>
                    <a:pt x="11925" y="0"/>
                  </a:moveTo>
                  <a:lnTo>
                    <a:pt x="4262801" y="0"/>
                  </a:lnTo>
                  <a:cubicBezTo>
                    <a:pt x="4269387" y="0"/>
                    <a:pt x="4274726" y="5339"/>
                    <a:pt x="4274726" y="11925"/>
                  </a:cubicBezTo>
                  <a:lnTo>
                    <a:pt x="4274726" y="513502"/>
                  </a:lnTo>
                  <a:cubicBezTo>
                    <a:pt x="4274726" y="520088"/>
                    <a:pt x="4269387" y="525427"/>
                    <a:pt x="4262801" y="525427"/>
                  </a:cubicBezTo>
                  <a:lnTo>
                    <a:pt x="11925" y="525427"/>
                  </a:lnTo>
                  <a:cubicBezTo>
                    <a:pt x="5339" y="525427"/>
                    <a:pt x="0" y="520088"/>
                    <a:pt x="0" y="513502"/>
                  </a:cubicBezTo>
                  <a:lnTo>
                    <a:pt x="0" y="11925"/>
                  </a:lnTo>
                  <a:cubicBezTo>
                    <a:pt x="0" y="5339"/>
                    <a:pt x="5339" y="0"/>
                    <a:pt x="11925" y="0"/>
                  </a:cubicBezTo>
                  <a:close/>
                </a:path>
              </a:pathLst>
            </a:custGeom>
            <a:ln w="19050" cap="rnd">
              <a:solidFill>
                <a:srgbClr val="000000"/>
              </a:solidFill>
              <a:prstDash val="solid"/>
              <a:round/>
            </a:ln>
          </p:spPr>
        </p:sp>
        <p:sp>
          <p:nvSpPr>
            <p:cNvPr name="TextBox 13" id="13"/>
            <p:cNvSpPr txBox="true"/>
            <p:nvPr/>
          </p:nvSpPr>
          <p:spPr>
            <a:xfrm>
              <a:off x="0" y="-66675"/>
              <a:ext cx="4274726" cy="592102"/>
            </a:xfrm>
            <a:prstGeom prst="rect">
              <a:avLst/>
            </a:prstGeom>
          </p:spPr>
          <p:txBody>
            <a:bodyPr anchor="ctr" rtlCol="false" tIns="50800" lIns="50800" bIns="50800" rIns="50800"/>
            <a:lstStyle/>
            <a:p>
              <a:pPr algn="ctr">
                <a:lnSpc>
                  <a:spcPts val="3150"/>
                </a:lnSpc>
              </a:pPr>
            </a:p>
          </p:txBody>
        </p:sp>
      </p:grpSp>
      <p:sp>
        <p:nvSpPr>
          <p:cNvPr name="TextBox 14" id="14"/>
          <p:cNvSpPr txBox="true"/>
          <p:nvPr/>
        </p:nvSpPr>
        <p:spPr>
          <a:xfrm rot="0">
            <a:off x="1700621" y="1696705"/>
            <a:ext cx="14886759" cy="1143000"/>
          </a:xfrm>
          <a:prstGeom prst="rect">
            <a:avLst/>
          </a:prstGeom>
        </p:spPr>
        <p:txBody>
          <a:bodyPr anchor="t" rtlCol="false" tIns="0" lIns="0" bIns="0" rIns="0">
            <a:spAutoFit/>
          </a:bodyPr>
          <a:lstStyle/>
          <a:p>
            <a:pPr algn="ctr" marL="0" indent="0" lvl="0">
              <a:lnSpc>
                <a:spcPts val="9000"/>
              </a:lnSpc>
              <a:spcBef>
                <a:spcPct val="0"/>
              </a:spcBef>
            </a:pPr>
            <a:r>
              <a:rPr lang="en-US" b="true" sz="7500" strike="noStrike">
                <a:solidFill>
                  <a:srgbClr val="FFFFFF"/>
                </a:solidFill>
                <a:latin typeface="TT Interphases Bold"/>
                <a:ea typeface="TT Interphases Bold"/>
                <a:cs typeface="TT Interphases Bold"/>
                <a:sym typeface="TT Interphases Bold"/>
              </a:rPr>
              <a:t>Working Of Model</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4020589" y="9210675"/>
            <a:ext cx="3238711" cy="349250"/>
          </a:xfrm>
          <a:prstGeom prst="rect">
            <a:avLst/>
          </a:prstGeom>
        </p:spPr>
        <p:txBody>
          <a:bodyPr anchor="t" rtlCol="false" tIns="0" lIns="0" bIns="0" rIns="0">
            <a:spAutoFit/>
          </a:bodyPr>
          <a:lstStyle/>
          <a:p>
            <a:pPr algn="r" marL="0" indent="0" lvl="0">
              <a:lnSpc>
                <a:spcPts val="2800"/>
              </a:lnSpc>
              <a:spcBef>
                <a:spcPct val="0"/>
              </a:spcBef>
            </a:pPr>
            <a:r>
              <a:rPr lang="en-US" sz="2000">
                <a:solidFill>
                  <a:srgbClr val="FFFFFF"/>
                </a:solidFill>
                <a:latin typeface="TT Interphases"/>
                <a:ea typeface="TT Interphases"/>
                <a:cs typeface="TT Interphases"/>
                <a:sym typeface="TT Interphases"/>
              </a:rPr>
              <a:t>@reallygreatsite</a:t>
            </a:r>
          </a:p>
        </p:txBody>
      </p:sp>
      <p:sp>
        <p:nvSpPr>
          <p:cNvPr name="Freeform 3" id="3"/>
          <p:cNvSpPr/>
          <p:nvPr/>
        </p:nvSpPr>
        <p:spPr>
          <a:xfrm flipH="false" flipV="false" rot="-3346691">
            <a:off x="9680736" y="797134"/>
            <a:ext cx="19314877" cy="7585479"/>
          </a:xfrm>
          <a:custGeom>
            <a:avLst/>
            <a:gdLst/>
            <a:ahLst/>
            <a:cxnLst/>
            <a:rect r="r" b="b" t="t" l="l"/>
            <a:pathLst>
              <a:path h="7585479" w="19314877">
                <a:moveTo>
                  <a:pt x="0" y="0"/>
                </a:moveTo>
                <a:lnTo>
                  <a:pt x="19314877" y="0"/>
                </a:lnTo>
                <a:lnTo>
                  <a:pt x="19314877" y="7585479"/>
                </a:lnTo>
                <a:lnTo>
                  <a:pt x="0" y="7585479"/>
                </a:lnTo>
                <a:lnTo>
                  <a:pt x="0" y="0"/>
                </a:lnTo>
                <a:close/>
              </a:path>
            </a:pathLst>
          </a:custGeom>
          <a:blipFill>
            <a:blip r:embed="rId2">
              <a:alphaModFix amt="70000"/>
            </a:blip>
            <a:stretch>
              <a:fillRect l="0" t="0" r="0" b="0"/>
            </a:stretch>
          </a:blipFill>
        </p:spPr>
      </p:sp>
      <p:sp>
        <p:nvSpPr>
          <p:cNvPr name="Freeform 4" id="4"/>
          <p:cNvSpPr/>
          <p:nvPr/>
        </p:nvSpPr>
        <p:spPr>
          <a:xfrm flipH="false" flipV="false" rot="-5400000">
            <a:off x="16151851" y="3990996"/>
            <a:ext cx="3740615" cy="2632032"/>
          </a:xfrm>
          <a:custGeom>
            <a:avLst/>
            <a:gdLst/>
            <a:ahLst/>
            <a:cxnLst/>
            <a:rect r="r" b="b" t="t" l="l"/>
            <a:pathLst>
              <a:path h="2632032" w="3740615">
                <a:moveTo>
                  <a:pt x="0" y="0"/>
                </a:moveTo>
                <a:lnTo>
                  <a:pt x="3740615" y="0"/>
                </a:lnTo>
                <a:lnTo>
                  <a:pt x="3740615" y="2632033"/>
                </a:lnTo>
                <a:lnTo>
                  <a:pt x="0" y="26320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55507" y="3658505"/>
            <a:ext cx="5750608" cy="5750608"/>
          </a:xfrm>
          <a:custGeom>
            <a:avLst/>
            <a:gdLst/>
            <a:ahLst/>
            <a:cxnLst/>
            <a:rect r="r" b="b" t="t" l="l"/>
            <a:pathLst>
              <a:path h="5750608" w="5750608">
                <a:moveTo>
                  <a:pt x="0" y="0"/>
                </a:moveTo>
                <a:lnTo>
                  <a:pt x="5750608" y="0"/>
                </a:lnTo>
                <a:lnTo>
                  <a:pt x="5750608" y="5750607"/>
                </a:lnTo>
                <a:lnTo>
                  <a:pt x="0" y="5750607"/>
                </a:lnTo>
                <a:lnTo>
                  <a:pt x="0" y="0"/>
                </a:lnTo>
                <a:close/>
              </a:path>
            </a:pathLst>
          </a:custGeom>
          <a:blipFill>
            <a:blip r:embed="rId5"/>
            <a:stretch>
              <a:fillRect l="0" t="0" r="0" b="0"/>
            </a:stretch>
          </a:blipFill>
        </p:spPr>
      </p:sp>
      <p:sp>
        <p:nvSpPr>
          <p:cNvPr name="TextBox 6" id="6"/>
          <p:cNvSpPr txBox="true"/>
          <p:nvPr/>
        </p:nvSpPr>
        <p:spPr>
          <a:xfrm rot="0">
            <a:off x="1913365" y="1149339"/>
            <a:ext cx="5434893" cy="919480"/>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TT Interphases Bold"/>
                <a:ea typeface="TT Interphases Bold"/>
                <a:cs typeface="TT Interphases Bold"/>
                <a:sym typeface="TT Interphases Bold"/>
              </a:rPr>
              <a:t>Prediction</a:t>
            </a:r>
          </a:p>
        </p:txBody>
      </p:sp>
      <p:sp>
        <p:nvSpPr>
          <p:cNvPr name="TextBox 7" id="7"/>
          <p:cNvSpPr txBox="true"/>
          <p:nvPr/>
        </p:nvSpPr>
        <p:spPr>
          <a:xfrm rot="0">
            <a:off x="4870046" y="1992619"/>
            <a:ext cx="3496021" cy="679450"/>
          </a:xfrm>
          <a:prstGeom prst="rect">
            <a:avLst/>
          </a:prstGeom>
        </p:spPr>
        <p:txBody>
          <a:bodyPr anchor="t" rtlCol="false" tIns="0" lIns="0" bIns="0" rIns="0">
            <a:spAutoFit/>
          </a:bodyPr>
          <a:lstStyle/>
          <a:p>
            <a:pPr algn="l" marL="0" indent="0" lvl="0">
              <a:lnSpc>
                <a:spcPts val="5599"/>
              </a:lnSpc>
              <a:spcBef>
                <a:spcPct val="0"/>
              </a:spcBef>
            </a:pPr>
            <a:r>
              <a:rPr lang="en-US" sz="3999">
                <a:solidFill>
                  <a:srgbClr val="FF6B57"/>
                </a:solidFill>
                <a:latin typeface="TT Interphases"/>
                <a:ea typeface="TT Interphases"/>
                <a:cs typeface="TT Interphases"/>
                <a:sym typeface="TT Interphases"/>
              </a:rPr>
              <a:t>Output</a:t>
            </a:r>
          </a:p>
        </p:txBody>
      </p:sp>
      <p:sp>
        <p:nvSpPr>
          <p:cNvPr name="TextBox 8" id="8"/>
          <p:cNvSpPr txBox="true"/>
          <p:nvPr/>
        </p:nvSpPr>
        <p:spPr>
          <a:xfrm rot="0">
            <a:off x="9144000" y="4919571"/>
            <a:ext cx="6004512" cy="2717089"/>
          </a:xfrm>
          <a:prstGeom prst="rect">
            <a:avLst/>
          </a:prstGeom>
        </p:spPr>
        <p:txBody>
          <a:bodyPr anchor="t" rtlCol="false" tIns="0" lIns="0" bIns="0" rIns="0">
            <a:spAutoFit/>
          </a:bodyPr>
          <a:lstStyle/>
          <a:p>
            <a:pPr algn="l" marL="556523" indent="-278261" lvl="1">
              <a:lnSpc>
                <a:spcPts val="3608"/>
              </a:lnSpc>
              <a:buFont typeface="Arial"/>
              <a:buChar char="•"/>
            </a:pPr>
            <a:r>
              <a:rPr lang="en-US" b="true" sz="2577">
                <a:solidFill>
                  <a:srgbClr val="FFFFFF"/>
                </a:solidFill>
                <a:latin typeface="TT Interphases Bold"/>
                <a:ea typeface="TT Interphases Bold"/>
                <a:cs typeface="TT Interphases Bold"/>
                <a:sym typeface="TT Interphases Bold"/>
              </a:rPr>
              <a:t>Current Price</a:t>
            </a:r>
          </a:p>
          <a:p>
            <a:pPr algn="l" marL="556523" indent="-278261" lvl="1">
              <a:lnSpc>
                <a:spcPts val="3608"/>
              </a:lnSpc>
              <a:buFont typeface="Arial"/>
              <a:buChar char="•"/>
            </a:pPr>
            <a:r>
              <a:rPr lang="en-US" b="true" sz="2577">
                <a:solidFill>
                  <a:srgbClr val="FFFFFF"/>
                </a:solidFill>
                <a:latin typeface="TT Interphases Bold"/>
                <a:ea typeface="TT Interphases Bold"/>
                <a:cs typeface="TT Interphases Bold"/>
                <a:sym typeface="TT Interphases Bold"/>
              </a:rPr>
              <a:t>Predicted Next Day Price</a:t>
            </a:r>
          </a:p>
          <a:p>
            <a:pPr algn="l" marL="556523" indent="-278261" lvl="1">
              <a:lnSpc>
                <a:spcPts val="3608"/>
              </a:lnSpc>
              <a:buFont typeface="Arial"/>
              <a:buChar char="•"/>
            </a:pPr>
            <a:r>
              <a:rPr lang="en-US" b="true" sz="2577">
                <a:solidFill>
                  <a:srgbClr val="FFFFFF"/>
                </a:solidFill>
                <a:latin typeface="TT Interphases Bold"/>
                <a:ea typeface="TT Interphases Bold"/>
                <a:cs typeface="TT Interphases Bold"/>
                <a:sym typeface="TT Interphases Bold"/>
              </a:rPr>
              <a:t>Price Change (+/-)</a:t>
            </a:r>
          </a:p>
          <a:p>
            <a:pPr algn="l" marL="556523" indent="-278261" lvl="1">
              <a:lnSpc>
                <a:spcPts val="3608"/>
              </a:lnSpc>
              <a:buFont typeface="Arial"/>
              <a:buChar char="•"/>
            </a:pPr>
            <a:r>
              <a:rPr lang="en-US" b="true" sz="2577">
                <a:solidFill>
                  <a:srgbClr val="FFFFFF"/>
                </a:solidFill>
                <a:latin typeface="TT Interphases Bold"/>
                <a:ea typeface="TT Interphases Bold"/>
                <a:cs typeface="TT Interphases Bold"/>
                <a:sym typeface="TT Interphases Bold"/>
              </a:rPr>
              <a:t>Buy / Sell Signal 🚦 </a:t>
            </a:r>
          </a:p>
          <a:p>
            <a:pPr algn="l" marL="556523" indent="-278261" lvl="1">
              <a:lnSpc>
                <a:spcPts val="3608"/>
              </a:lnSpc>
              <a:buFont typeface="Arial"/>
              <a:buChar char="•"/>
            </a:pPr>
            <a:r>
              <a:rPr lang="en-US" b="true" sz="2577">
                <a:solidFill>
                  <a:srgbClr val="FFFFFF"/>
                </a:solidFill>
                <a:latin typeface="TT Interphases Bold"/>
                <a:ea typeface="TT Interphases Bold"/>
                <a:cs typeface="TT Interphases Bold"/>
                <a:sym typeface="TT Interphases Bold"/>
              </a:rPr>
              <a:t>Accuracy / Trust Percentage</a:t>
            </a:r>
          </a:p>
          <a:p>
            <a:pPr algn="l" marL="556523" indent="-278261" lvl="1">
              <a:lnSpc>
                <a:spcPts val="3608"/>
              </a:lnSpc>
              <a:buFont typeface="Arial"/>
              <a:buChar char="•"/>
            </a:pPr>
            <a:r>
              <a:rPr lang="en-US" b="true" sz="2577">
                <a:solidFill>
                  <a:srgbClr val="FFFFFF"/>
                </a:solidFill>
                <a:latin typeface="TT Interphases Bold"/>
                <a:ea typeface="TT Interphases Bold"/>
                <a:cs typeface="TT Interphases Bold"/>
                <a:sym typeface="TT Interphases Bold"/>
              </a:rPr>
              <a:t>Graph of Actual vs Predicted Price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3346691">
            <a:off x="1451088" y="1922352"/>
            <a:ext cx="19314877" cy="7585479"/>
          </a:xfrm>
          <a:custGeom>
            <a:avLst/>
            <a:gdLst/>
            <a:ahLst/>
            <a:cxnLst/>
            <a:rect r="r" b="b" t="t" l="l"/>
            <a:pathLst>
              <a:path h="7585479" w="19314877">
                <a:moveTo>
                  <a:pt x="0" y="0"/>
                </a:moveTo>
                <a:lnTo>
                  <a:pt x="19314877" y="0"/>
                </a:lnTo>
                <a:lnTo>
                  <a:pt x="19314877" y="7585479"/>
                </a:lnTo>
                <a:lnTo>
                  <a:pt x="0" y="7585479"/>
                </a:lnTo>
                <a:lnTo>
                  <a:pt x="0" y="0"/>
                </a:lnTo>
                <a:close/>
              </a:path>
            </a:pathLst>
          </a:custGeom>
          <a:blipFill>
            <a:blip r:embed="rId2">
              <a:alphaModFix amt="70000"/>
            </a:blip>
            <a:stretch>
              <a:fillRect l="0" t="0" r="0" b="0"/>
            </a:stretch>
          </a:blipFill>
        </p:spPr>
      </p:sp>
      <p:grpSp>
        <p:nvGrpSpPr>
          <p:cNvPr name="Group 3" id="3"/>
          <p:cNvGrpSpPr/>
          <p:nvPr/>
        </p:nvGrpSpPr>
        <p:grpSpPr>
          <a:xfrm rot="0">
            <a:off x="2241648" y="3232957"/>
            <a:ext cx="7568512" cy="1297073"/>
            <a:chOff x="0" y="0"/>
            <a:chExt cx="1993353" cy="341616"/>
          </a:xfrm>
        </p:grpSpPr>
        <p:sp>
          <p:nvSpPr>
            <p:cNvPr name="Freeform 4" id="4"/>
            <p:cNvSpPr/>
            <p:nvPr/>
          </p:nvSpPr>
          <p:spPr>
            <a:xfrm flipH="false" flipV="false" rot="0">
              <a:off x="0" y="0"/>
              <a:ext cx="1993353" cy="341616"/>
            </a:xfrm>
            <a:custGeom>
              <a:avLst/>
              <a:gdLst/>
              <a:ahLst/>
              <a:cxnLst/>
              <a:rect r="r" b="b" t="t" l="l"/>
              <a:pathLst>
                <a:path h="341616" w="1993353">
                  <a:moveTo>
                    <a:pt x="34779" y="0"/>
                  </a:moveTo>
                  <a:lnTo>
                    <a:pt x="1958574" y="0"/>
                  </a:lnTo>
                  <a:cubicBezTo>
                    <a:pt x="1977782" y="0"/>
                    <a:pt x="1993353" y="15571"/>
                    <a:pt x="1993353" y="34779"/>
                  </a:cubicBezTo>
                  <a:lnTo>
                    <a:pt x="1993353" y="306837"/>
                  </a:lnTo>
                  <a:cubicBezTo>
                    <a:pt x="1993353" y="326045"/>
                    <a:pt x="1977782" y="341616"/>
                    <a:pt x="1958574" y="341616"/>
                  </a:cubicBezTo>
                  <a:lnTo>
                    <a:pt x="34779" y="341616"/>
                  </a:lnTo>
                  <a:cubicBezTo>
                    <a:pt x="15571" y="341616"/>
                    <a:pt x="0" y="326045"/>
                    <a:pt x="0" y="306837"/>
                  </a:cubicBezTo>
                  <a:lnTo>
                    <a:pt x="0" y="34779"/>
                  </a:lnTo>
                  <a:cubicBezTo>
                    <a:pt x="0" y="15571"/>
                    <a:pt x="15571" y="0"/>
                    <a:pt x="34779" y="0"/>
                  </a:cubicBezTo>
                  <a:close/>
                </a:path>
              </a:pathLst>
            </a:custGeom>
            <a:solidFill>
              <a:srgbClr val="000000">
                <a:alpha val="60000"/>
              </a:srgbClr>
            </a:solidFill>
            <a:ln w="19050" cap="rnd">
              <a:gradFill>
                <a:gsLst>
                  <a:gs pos="0">
                    <a:srgbClr val="000000">
                      <a:alpha val="60000"/>
                    </a:srgbClr>
                  </a:gs>
                  <a:gs pos="100000">
                    <a:srgbClr val="F66854">
                      <a:alpha val="60000"/>
                    </a:srgbClr>
                  </a:gs>
                </a:gsLst>
                <a:lin ang="5400000"/>
              </a:gradFill>
              <a:prstDash val="solid"/>
              <a:round/>
            </a:ln>
          </p:spPr>
        </p:sp>
        <p:sp>
          <p:nvSpPr>
            <p:cNvPr name="TextBox 5" id="5"/>
            <p:cNvSpPr txBox="true"/>
            <p:nvPr/>
          </p:nvSpPr>
          <p:spPr>
            <a:xfrm>
              <a:off x="0" y="-47625"/>
              <a:ext cx="1993353" cy="389241"/>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false" rot="0">
            <a:off x="11108527" y="2894964"/>
            <a:ext cx="6240564" cy="6240564"/>
          </a:xfrm>
          <a:custGeom>
            <a:avLst/>
            <a:gdLst/>
            <a:ahLst/>
            <a:cxnLst/>
            <a:rect r="r" b="b" t="t" l="l"/>
            <a:pathLst>
              <a:path h="6240564" w="6240564">
                <a:moveTo>
                  <a:pt x="0" y="0"/>
                </a:moveTo>
                <a:lnTo>
                  <a:pt x="6240564" y="0"/>
                </a:lnTo>
                <a:lnTo>
                  <a:pt x="6240564" y="6240564"/>
                </a:lnTo>
                <a:lnTo>
                  <a:pt x="0" y="6240564"/>
                </a:lnTo>
                <a:lnTo>
                  <a:pt x="0" y="0"/>
                </a:lnTo>
                <a:close/>
              </a:path>
            </a:pathLst>
          </a:custGeom>
          <a:blipFill>
            <a:blip r:embed="rId3"/>
            <a:stretch>
              <a:fillRect l="0" t="0" r="0" b="0"/>
            </a:stretch>
          </a:blipFill>
        </p:spPr>
      </p:sp>
      <p:sp>
        <p:nvSpPr>
          <p:cNvPr name="TextBox 7" id="7"/>
          <p:cNvSpPr txBox="true"/>
          <p:nvPr/>
        </p:nvSpPr>
        <p:spPr>
          <a:xfrm rot="0">
            <a:off x="1821019" y="1351452"/>
            <a:ext cx="8325345" cy="919480"/>
          </a:xfrm>
          <a:prstGeom prst="rect">
            <a:avLst/>
          </a:prstGeom>
        </p:spPr>
        <p:txBody>
          <a:bodyPr anchor="t" rtlCol="false" tIns="0" lIns="0" bIns="0" rIns="0">
            <a:spAutoFit/>
          </a:bodyPr>
          <a:lstStyle/>
          <a:p>
            <a:pPr algn="l" marL="0" indent="0" lvl="0">
              <a:lnSpc>
                <a:spcPts val="6859"/>
              </a:lnSpc>
            </a:pPr>
            <a:r>
              <a:rPr lang="en-US" b="true" sz="6999">
                <a:solidFill>
                  <a:srgbClr val="FFFFFF"/>
                </a:solidFill>
                <a:latin typeface="TT Interphases Bold"/>
                <a:ea typeface="TT Interphases Bold"/>
                <a:cs typeface="TT Interphases Bold"/>
                <a:sym typeface="TT Interphases Bold"/>
              </a:rPr>
              <a:t>Visualisation</a:t>
            </a:r>
          </a:p>
        </p:txBody>
      </p:sp>
      <p:sp>
        <p:nvSpPr>
          <p:cNvPr name="TextBox 8" id="8"/>
          <p:cNvSpPr txBox="true"/>
          <p:nvPr/>
        </p:nvSpPr>
        <p:spPr>
          <a:xfrm rot="0">
            <a:off x="3106468" y="3578805"/>
            <a:ext cx="6472283" cy="603343"/>
          </a:xfrm>
          <a:prstGeom prst="rect">
            <a:avLst/>
          </a:prstGeom>
        </p:spPr>
        <p:txBody>
          <a:bodyPr anchor="t" rtlCol="false" tIns="0" lIns="0" bIns="0" rIns="0">
            <a:spAutoFit/>
          </a:bodyPr>
          <a:lstStyle/>
          <a:p>
            <a:pPr algn="l">
              <a:lnSpc>
                <a:spcPts val="5070"/>
              </a:lnSpc>
            </a:pPr>
            <a:r>
              <a:rPr lang="en-US" b="true" sz="3621">
                <a:solidFill>
                  <a:srgbClr val="FF6B57"/>
                </a:solidFill>
                <a:latin typeface="TT Interphases Bold"/>
                <a:ea typeface="TT Interphases Bold"/>
                <a:cs typeface="TT Interphases Bold"/>
                <a:sym typeface="TT Interphases Bold"/>
              </a:rPr>
              <a:t>Line Chart</a:t>
            </a:r>
          </a:p>
        </p:txBody>
      </p:sp>
      <p:grpSp>
        <p:nvGrpSpPr>
          <p:cNvPr name="Group 9" id="9"/>
          <p:cNvGrpSpPr/>
          <p:nvPr/>
        </p:nvGrpSpPr>
        <p:grpSpPr>
          <a:xfrm rot="0">
            <a:off x="2241648" y="4768060"/>
            <a:ext cx="7568512" cy="1297073"/>
            <a:chOff x="0" y="0"/>
            <a:chExt cx="1993353" cy="341616"/>
          </a:xfrm>
        </p:grpSpPr>
        <p:sp>
          <p:nvSpPr>
            <p:cNvPr name="Freeform 10" id="10"/>
            <p:cNvSpPr/>
            <p:nvPr/>
          </p:nvSpPr>
          <p:spPr>
            <a:xfrm flipH="false" flipV="false" rot="0">
              <a:off x="0" y="0"/>
              <a:ext cx="1993353" cy="341616"/>
            </a:xfrm>
            <a:custGeom>
              <a:avLst/>
              <a:gdLst/>
              <a:ahLst/>
              <a:cxnLst/>
              <a:rect r="r" b="b" t="t" l="l"/>
              <a:pathLst>
                <a:path h="341616" w="1993353">
                  <a:moveTo>
                    <a:pt x="34779" y="0"/>
                  </a:moveTo>
                  <a:lnTo>
                    <a:pt x="1958574" y="0"/>
                  </a:lnTo>
                  <a:cubicBezTo>
                    <a:pt x="1977782" y="0"/>
                    <a:pt x="1993353" y="15571"/>
                    <a:pt x="1993353" y="34779"/>
                  </a:cubicBezTo>
                  <a:lnTo>
                    <a:pt x="1993353" y="306837"/>
                  </a:lnTo>
                  <a:cubicBezTo>
                    <a:pt x="1993353" y="326045"/>
                    <a:pt x="1977782" y="341616"/>
                    <a:pt x="1958574" y="341616"/>
                  </a:cubicBezTo>
                  <a:lnTo>
                    <a:pt x="34779" y="341616"/>
                  </a:lnTo>
                  <a:cubicBezTo>
                    <a:pt x="15571" y="341616"/>
                    <a:pt x="0" y="326045"/>
                    <a:pt x="0" y="306837"/>
                  </a:cubicBezTo>
                  <a:lnTo>
                    <a:pt x="0" y="34779"/>
                  </a:lnTo>
                  <a:cubicBezTo>
                    <a:pt x="0" y="15571"/>
                    <a:pt x="15571" y="0"/>
                    <a:pt x="34779" y="0"/>
                  </a:cubicBezTo>
                  <a:close/>
                </a:path>
              </a:pathLst>
            </a:custGeom>
            <a:solidFill>
              <a:srgbClr val="000000">
                <a:alpha val="60000"/>
              </a:srgbClr>
            </a:solidFill>
            <a:ln w="19050" cap="rnd">
              <a:gradFill>
                <a:gsLst>
                  <a:gs pos="0">
                    <a:srgbClr val="000000">
                      <a:alpha val="60000"/>
                    </a:srgbClr>
                  </a:gs>
                  <a:gs pos="100000">
                    <a:srgbClr val="F66854">
                      <a:alpha val="60000"/>
                    </a:srgbClr>
                  </a:gs>
                </a:gsLst>
                <a:lin ang="5400000"/>
              </a:gradFill>
              <a:prstDash val="solid"/>
              <a:round/>
            </a:ln>
          </p:spPr>
        </p:sp>
        <p:sp>
          <p:nvSpPr>
            <p:cNvPr name="TextBox 11" id="11"/>
            <p:cNvSpPr txBox="true"/>
            <p:nvPr/>
          </p:nvSpPr>
          <p:spPr>
            <a:xfrm>
              <a:off x="0" y="-47625"/>
              <a:ext cx="1993353" cy="389241"/>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3077170" y="5086350"/>
            <a:ext cx="6472283" cy="603343"/>
          </a:xfrm>
          <a:prstGeom prst="rect">
            <a:avLst/>
          </a:prstGeom>
        </p:spPr>
        <p:txBody>
          <a:bodyPr anchor="t" rtlCol="false" tIns="0" lIns="0" bIns="0" rIns="0">
            <a:spAutoFit/>
          </a:bodyPr>
          <a:lstStyle/>
          <a:p>
            <a:pPr algn="l">
              <a:lnSpc>
                <a:spcPts val="5070"/>
              </a:lnSpc>
            </a:pPr>
            <a:r>
              <a:rPr lang="en-US" b="true" sz="3621">
                <a:solidFill>
                  <a:srgbClr val="FF6B57"/>
                </a:solidFill>
                <a:latin typeface="TT Interphases Bold"/>
                <a:ea typeface="TT Interphases Bold"/>
                <a:cs typeface="TT Interphases Bold"/>
                <a:sym typeface="TT Interphases Bold"/>
              </a:rPr>
              <a:t>Candlestick Chart</a:t>
            </a:r>
          </a:p>
        </p:txBody>
      </p:sp>
      <p:grpSp>
        <p:nvGrpSpPr>
          <p:cNvPr name="Group 13" id="13"/>
          <p:cNvGrpSpPr/>
          <p:nvPr/>
        </p:nvGrpSpPr>
        <p:grpSpPr>
          <a:xfrm rot="0">
            <a:off x="2199436" y="6303258"/>
            <a:ext cx="7568512" cy="1297073"/>
            <a:chOff x="0" y="0"/>
            <a:chExt cx="1993353" cy="341616"/>
          </a:xfrm>
        </p:grpSpPr>
        <p:sp>
          <p:nvSpPr>
            <p:cNvPr name="Freeform 14" id="14"/>
            <p:cNvSpPr/>
            <p:nvPr/>
          </p:nvSpPr>
          <p:spPr>
            <a:xfrm flipH="false" flipV="false" rot="0">
              <a:off x="0" y="0"/>
              <a:ext cx="1993353" cy="341616"/>
            </a:xfrm>
            <a:custGeom>
              <a:avLst/>
              <a:gdLst/>
              <a:ahLst/>
              <a:cxnLst/>
              <a:rect r="r" b="b" t="t" l="l"/>
              <a:pathLst>
                <a:path h="341616" w="1993353">
                  <a:moveTo>
                    <a:pt x="34779" y="0"/>
                  </a:moveTo>
                  <a:lnTo>
                    <a:pt x="1958574" y="0"/>
                  </a:lnTo>
                  <a:cubicBezTo>
                    <a:pt x="1977782" y="0"/>
                    <a:pt x="1993353" y="15571"/>
                    <a:pt x="1993353" y="34779"/>
                  </a:cubicBezTo>
                  <a:lnTo>
                    <a:pt x="1993353" y="306837"/>
                  </a:lnTo>
                  <a:cubicBezTo>
                    <a:pt x="1993353" y="326045"/>
                    <a:pt x="1977782" y="341616"/>
                    <a:pt x="1958574" y="341616"/>
                  </a:cubicBezTo>
                  <a:lnTo>
                    <a:pt x="34779" y="341616"/>
                  </a:lnTo>
                  <a:cubicBezTo>
                    <a:pt x="15571" y="341616"/>
                    <a:pt x="0" y="326045"/>
                    <a:pt x="0" y="306837"/>
                  </a:cubicBezTo>
                  <a:lnTo>
                    <a:pt x="0" y="34779"/>
                  </a:lnTo>
                  <a:cubicBezTo>
                    <a:pt x="0" y="15571"/>
                    <a:pt x="15571" y="0"/>
                    <a:pt x="34779" y="0"/>
                  </a:cubicBezTo>
                  <a:close/>
                </a:path>
              </a:pathLst>
            </a:custGeom>
            <a:solidFill>
              <a:srgbClr val="000000">
                <a:alpha val="60000"/>
              </a:srgbClr>
            </a:solidFill>
            <a:ln w="19050" cap="rnd">
              <a:gradFill>
                <a:gsLst>
                  <a:gs pos="0">
                    <a:srgbClr val="000000">
                      <a:alpha val="60000"/>
                    </a:srgbClr>
                  </a:gs>
                  <a:gs pos="100000">
                    <a:srgbClr val="F66854">
                      <a:alpha val="60000"/>
                    </a:srgbClr>
                  </a:gs>
                </a:gsLst>
                <a:lin ang="5400000"/>
              </a:gradFill>
              <a:prstDash val="solid"/>
              <a:round/>
            </a:ln>
          </p:spPr>
        </p:sp>
        <p:sp>
          <p:nvSpPr>
            <p:cNvPr name="TextBox 15" id="15"/>
            <p:cNvSpPr txBox="true"/>
            <p:nvPr/>
          </p:nvSpPr>
          <p:spPr>
            <a:xfrm>
              <a:off x="0" y="-47625"/>
              <a:ext cx="1993353" cy="389241"/>
            </a:xfrm>
            <a:prstGeom prst="rect">
              <a:avLst/>
            </a:prstGeom>
          </p:spPr>
          <p:txBody>
            <a:bodyPr anchor="ctr" rtlCol="false" tIns="50800" lIns="50800" bIns="50800" rIns="50800"/>
            <a:lstStyle/>
            <a:p>
              <a:pPr algn="ctr">
                <a:lnSpc>
                  <a:spcPts val="2800"/>
                </a:lnSpc>
              </a:pPr>
            </a:p>
          </p:txBody>
        </p:sp>
      </p:grpSp>
      <p:grpSp>
        <p:nvGrpSpPr>
          <p:cNvPr name="Group 16" id="16"/>
          <p:cNvGrpSpPr/>
          <p:nvPr/>
        </p:nvGrpSpPr>
        <p:grpSpPr>
          <a:xfrm rot="0">
            <a:off x="2241648" y="7838456"/>
            <a:ext cx="7568512" cy="1297073"/>
            <a:chOff x="0" y="0"/>
            <a:chExt cx="1993353" cy="341616"/>
          </a:xfrm>
        </p:grpSpPr>
        <p:sp>
          <p:nvSpPr>
            <p:cNvPr name="Freeform 17" id="17"/>
            <p:cNvSpPr/>
            <p:nvPr/>
          </p:nvSpPr>
          <p:spPr>
            <a:xfrm flipH="false" flipV="false" rot="0">
              <a:off x="0" y="0"/>
              <a:ext cx="1993353" cy="341616"/>
            </a:xfrm>
            <a:custGeom>
              <a:avLst/>
              <a:gdLst/>
              <a:ahLst/>
              <a:cxnLst/>
              <a:rect r="r" b="b" t="t" l="l"/>
              <a:pathLst>
                <a:path h="341616" w="1993353">
                  <a:moveTo>
                    <a:pt x="34779" y="0"/>
                  </a:moveTo>
                  <a:lnTo>
                    <a:pt x="1958574" y="0"/>
                  </a:lnTo>
                  <a:cubicBezTo>
                    <a:pt x="1977782" y="0"/>
                    <a:pt x="1993353" y="15571"/>
                    <a:pt x="1993353" y="34779"/>
                  </a:cubicBezTo>
                  <a:lnTo>
                    <a:pt x="1993353" y="306837"/>
                  </a:lnTo>
                  <a:cubicBezTo>
                    <a:pt x="1993353" y="326045"/>
                    <a:pt x="1977782" y="341616"/>
                    <a:pt x="1958574" y="341616"/>
                  </a:cubicBezTo>
                  <a:lnTo>
                    <a:pt x="34779" y="341616"/>
                  </a:lnTo>
                  <a:cubicBezTo>
                    <a:pt x="15571" y="341616"/>
                    <a:pt x="0" y="326045"/>
                    <a:pt x="0" y="306837"/>
                  </a:cubicBezTo>
                  <a:lnTo>
                    <a:pt x="0" y="34779"/>
                  </a:lnTo>
                  <a:cubicBezTo>
                    <a:pt x="0" y="15571"/>
                    <a:pt x="15571" y="0"/>
                    <a:pt x="34779" y="0"/>
                  </a:cubicBezTo>
                  <a:close/>
                </a:path>
              </a:pathLst>
            </a:custGeom>
            <a:solidFill>
              <a:srgbClr val="000000">
                <a:alpha val="60000"/>
              </a:srgbClr>
            </a:solidFill>
            <a:ln w="19050" cap="rnd">
              <a:gradFill>
                <a:gsLst>
                  <a:gs pos="0">
                    <a:srgbClr val="000000">
                      <a:alpha val="60000"/>
                    </a:srgbClr>
                  </a:gs>
                  <a:gs pos="100000">
                    <a:srgbClr val="F66854">
                      <a:alpha val="60000"/>
                    </a:srgbClr>
                  </a:gs>
                </a:gsLst>
                <a:lin ang="5400000"/>
              </a:gradFill>
              <a:prstDash val="solid"/>
              <a:round/>
            </a:ln>
          </p:spPr>
        </p:sp>
        <p:sp>
          <p:nvSpPr>
            <p:cNvPr name="TextBox 18" id="18"/>
            <p:cNvSpPr txBox="true"/>
            <p:nvPr/>
          </p:nvSpPr>
          <p:spPr>
            <a:xfrm>
              <a:off x="0" y="-47625"/>
              <a:ext cx="1993353" cy="389241"/>
            </a:xfrm>
            <a:prstGeom prst="rect">
              <a:avLst/>
            </a:prstGeom>
          </p:spPr>
          <p:txBody>
            <a:bodyPr anchor="ctr" rtlCol="false" tIns="50800" lIns="50800" bIns="50800" rIns="50800"/>
            <a:lstStyle/>
            <a:p>
              <a:pPr algn="ctr">
                <a:lnSpc>
                  <a:spcPts val="2800"/>
                </a:lnSpc>
              </a:pPr>
            </a:p>
          </p:txBody>
        </p:sp>
      </p:grpSp>
      <p:sp>
        <p:nvSpPr>
          <p:cNvPr name="TextBox 19" id="19"/>
          <p:cNvSpPr txBox="true"/>
          <p:nvPr/>
        </p:nvSpPr>
        <p:spPr>
          <a:xfrm rot="0">
            <a:off x="3077170" y="6617583"/>
            <a:ext cx="6377982" cy="603343"/>
          </a:xfrm>
          <a:prstGeom prst="rect">
            <a:avLst/>
          </a:prstGeom>
        </p:spPr>
        <p:txBody>
          <a:bodyPr anchor="t" rtlCol="false" tIns="0" lIns="0" bIns="0" rIns="0">
            <a:spAutoFit/>
          </a:bodyPr>
          <a:lstStyle/>
          <a:p>
            <a:pPr algn="l">
              <a:lnSpc>
                <a:spcPts val="5070"/>
              </a:lnSpc>
            </a:pPr>
            <a:r>
              <a:rPr lang="en-US" b="true" sz="3621">
                <a:solidFill>
                  <a:srgbClr val="FF6B57"/>
                </a:solidFill>
                <a:latin typeface="TT Interphases Bold"/>
                <a:ea typeface="TT Interphases Bold"/>
                <a:cs typeface="TT Interphases Bold"/>
                <a:sym typeface="TT Interphases Bold"/>
              </a:rPr>
              <a:t>Actual vs Predicted  Graph</a:t>
            </a:r>
          </a:p>
        </p:txBody>
      </p:sp>
      <p:sp>
        <p:nvSpPr>
          <p:cNvPr name="TextBox 20" id="20"/>
          <p:cNvSpPr txBox="true"/>
          <p:nvPr/>
        </p:nvSpPr>
        <p:spPr>
          <a:xfrm rot="0">
            <a:off x="3077170" y="8152781"/>
            <a:ext cx="6377982" cy="603343"/>
          </a:xfrm>
          <a:prstGeom prst="rect">
            <a:avLst/>
          </a:prstGeom>
        </p:spPr>
        <p:txBody>
          <a:bodyPr anchor="t" rtlCol="false" tIns="0" lIns="0" bIns="0" rIns="0">
            <a:spAutoFit/>
          </a:bodyPr>
          <a:lstStyle/>
          <a:p>
            <a:pPr algn="l">
              <a:lnSpc>
                <a:spcPts val="5070"/>
              </a:lnSpc>
            </a:pPr>
            <a:r>
              <a:rPr lang="en-US" b="true" sz="3621">
                <a:solidFill>
                  <a:srgbClr val="FF6B57"/>
                </a:solidFill>
                <a:latin typeface="TT Interphases Bold"/>
                <a:ea typeface="TT Interphases Bold"/>
                <a:cs typeface="TT Interphases Bold"/>
                <a:sym typeface="TT Interphases Bold"/>
              </a:rPr>
              <a:t>Pie Chart for Buy/Sel</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AutoShape 2" id="2"/>
          <p:cNvSpPr/>
          <p:nvPr/>
        </p:nvSpPr>
        <p:spPr>
          <a:xfrm rot="0">
            <a:off x="5358840" y="1108553"/>
            <a:ext cx="11859377" cy="8069894"/>
          </a:xfrm>
          <a:prstGeom prst="rect">
            <a:avLst/>
          </a:prstGeom>
          <a:solidFill>
            <a:srgbClr val="FFFFFF"/>
          </a:solidFill>
        </p:spPr>
      </p:sp>
      <p:grpSp>
        <p:nvGrpSpPr>
          <p:cNvPr name="Group 3" id="3"/>
          <p:cNvGrpSpPr/>
          <p:nvPr/>
        </p:nvGrpSpPr>
        <p:grpSpPr>
          <a:xfrm rot="0">
            <a:off x="5607369" y="1365529"/>
            <a:ext cx="11362320" cy="7555943"/>
            <a:chOff x="0" y="0"/>
            <a:chExt cx="1222256" cy="812800"/>
          </a:xfrm>
        </p:grpSpPr>
        <p:sp>
          <p:nvSpPr>
            <p:cNvPr name="Freeform 4" id="4"/>
            <p:cNvSpPr/>
            <p:nvPr/>
          </p:nvSpPr>
          <p:spPr>
            <a:xfrm flipH="false" flipV="false" rot="0">
              <a:off x="0" y="0"/>
              <a:ext cx="1222256" cy="812800"/>
            </a:xfrm>
            <a:custGeom>
              <a:avLst/>
              <a:gdLst/>
              <a:ahLst/>
              <a:cxnLst/>
              <a:rect r="r" b="b" t="t" l="l"/>
              <a:pathLst>
                <a:path h="812800" w="1222256">
                  <a:moveTo>
                    <a:pt x="0" y="0"/>
                  </a:moveTo>
                  <a:lnTo>
                    <a:pt x="1222256" y="0"/>
                  </a:lnTo>
                  <a:lnTo>
                    <a:pt x="1222256" y="812800"/>
                  </a:lnTo>
                  <a:lnTo>
                    <a:pt x="0" y="812800"/>
                  </a:lnTo>
                  <a:close/>
                </a:path>
              </a:pathLst>
            </a:custGeom>
            <a:blipFill>
              <a:blip r:embed="rId2"/>
              <a:stretch>
                <a:fillRect l="0" t="-25187" r="0" b="-25187"/>
              </a:stretch>
            </a:blipFill>
          </p:spPr>
        </p:sp>
      </p:grpSp>
      <p:grpSp>
        <p:nvGrpSpPr>
          <p:cNvPr name="Group 5" id="5"/>
          <p:cNvGrpSpPr/>
          <p:nvPr/>
        </p:nvGrpSpPr>
        <p:grpSpPr>
          <a:xfrm rot="0">
            <a:off x="723248" y="2310509"/>
            <a:ext cx="6982269" cy="5665982"/>
            <a:chOff x="0" y="0"/>
            <a:chExt cx="9309692" cy="7554643"/>
          </a:xfrm>
        </p:grpSpPr>
        <p:sp>
          <p:nvSpPr>
            <p:cNvPr name="AutoShape 6" id="6"/>
            <p:cNvSpPr/>
            <p:nvPr/>
          </p:nvSpPr>
          <p:spPr>
            <a:xfrm rot="0">
              <a:off x="0" y="0"/>
              <a:ext cx="9309692" cy="7554643"/>
            </a:xfrm>
            <a:prstGeom prst="rect">
              <a:avLst/>
            </a:prstGeom>
            <a:solidFill>
              <a:srgbClr val="FFFFFF"/>
            </a:solidFill>
          </p:spPr>
        </p:sp>
        <p:sp>
          <p:nvSpPr>
            <p:cNvPr name="TextBox 7" id="7"/>
            <p:cNvSpPr txBox="true"/>
            <p:nvPr/>
          </p:nvSpPr>
          <p:spPr>
            <a:xfrm rot="0">
              <a:off x="524778" y="618741"/>
              <a:ext cx="8260135" cy="1613916"/>
            </a:xfrm>
            <a:prstGeom prst="rect">
              <a:avLst/>
            </a:prstGeom>
          </p:spPr>
          <p:txBody>
            <a:bodyPr anchor="t" rtlCol="false" tIns="0" lIns="0" bIns="0" rIns="0">
              <a:spAutoFit/>
            </a:bodyPr>
            <a:lstStyle/>
            <a:p>
              <a:pPr algn="ctr" marL="0" indent="0" lvl="0">
                <a:lnSpc>
                  <a:spcPts val="9324"/>
                </a:lnSpc>
              </a:pPr>
              <a:r>
                <a:rPr lang="en-US" b="true" sz="8400" strike="noStrike">
                  <a:solidFill>
                    <a:srgbClr val="000000"/>
                  </a:solidFill>
                  <a:latin typeface="TT Interphases Bold"/>
                  <a:ea typeface="TT Interphases Bold"/>
                  <a:cs typeface="TT Interphases Bold"/>
                  <a:sym typeface="TT Interphases Bold"/>
                </a:rPr>
                <a:t>Results</a:t>
              </a:r>
            </a:p>
          </p:txBody>
        </p:sp>
        <p:sp>
          <p:nvSpPr>
            <p:cNvPr name="TextBox 8" id="8"/>
            <p:cNvSpPr txBox="true"/>
            <p:nvPr/>
          </p:nvSpPr>
          <p:spPr>
            <a:xfrm rot="0">
              <a:off x="524778" y="2577629"/>
              <a:ext cx="8260135" cy="4434473"/>
            </a:xfrm>
            <a:prstGeom prst="rect">
              <a:avLst/>
            </a:prstGeom>
          </p:spPr>
          <p:txBody>
            <a:bodyPr anchor="t" rtlCol="false" tIns="0" lIns="0" bIns="0" rIns="0">
              <a:spAutoFit/>
            </a:bodyPr>
            <a:lstStyle/>
            <a:p>
              <a:pPr algn="ctr" marL="0" indent="0" lvl="0">
                <a:lnSpc>
                  <a:spcPts val="2928"/>
                </a:lnSpc>
              </a:pPr>
              <a:r>
                <a:rPr lang="en-US" b="true" sz="2092">
                  <a:solidFill>
                    <a:srgbClr val="000000"/>
                  </a:solidFill>
                  <a:latin typeface="TT Interphases Bold"/>
                  <a:ea typeface="TT Interphases Bold"/>
                  <a:cs typeface="TT Interphases Bold"/>
                  <a:sym typeface="TT Interphases Bold"/>
                </a:rPr>
                <a:t>The m</a:t>
              </a:r>
              <a:r>
                <a:rPr lang="en-US" b="true" sz="2092" strike="noStrike">
                  <a:solidFill>
                    <a:srgbClr val="000000"/>
                  </a:solidFill>
                  <a:latin typeface="TT Interphases Bold"/>
                  <a:ea typeface="TT Interphases Bold"/>
                  <a:cs typeface="TT Interphases Bold"/>
                  <a:sym typeface="TT Interphases Bold"/>
                </a:rPr>
                <a:t>odel analyzed past data</a:t>
              </a:r>
            </a:p>
            <a:p>
              <a:pPr algn="ctr" marL="0" indent="0" lvl="0">
                <a:lnSpc>
                  <a:spcPts val="2928"/>
                </a:lnSpc>
              </a:pPr>
            </a:p>
            <a:p>
              <a:pPr algn="ctr" marL="0" indent="0" lvl="0">
                <a:lnSpc>
                  <a:spcPts val="2928"/>
                </a:lnSpc>
              </a:pPr>
              <a:r>
                <a:rPr lang="en-US" b="true" sz="2092" strike="noStrike">
                  <a:solidFill>
                    <a:srgbClr val="000000"/>
                  </a:solidFill>
                  <a:latin typeface="TT Interphases Bold"/>
                  <a:ea typeface="TT Interphases Bold"/>
                  <a:cs typeface="TT Interphases Bold"/>
                  <a:sym typeface="TT Interphases Bold"/>
                </a:rPr>
                <a:t>Predicted future prices</a:t>
              </a:r>
            </a:p>
            <a:p>
              <a:pPr algn="ctr" marL="0" indent="0" lvl="0">
                <a:lnSpc>
                  <a:spcPts val="2928"/>
                </a:lnSpc>
              </a:pPr>
            </a:p>
            <a:p>
              <a:pPr algn="ctr" marL="0" indent="0" lvl="0">
                <a:lnSpc>
                  <a:spcPts val="2928"/>
                </a:lnSpc>
              </a:pPr>
              <a:r>
                <a:rPr lang="en-US" b="true" sz="2092" strike="noStrike">
                  <a:solidFill>
                    <a:srgbClr val="000000"/>
                  </a:solidFill>
                  <a:latin typeface="TT Interphases Bold"/>
                  <a:ea typeface="TT Interphases Bold"/>
                  <a:cs typeface="TT Interphases Bold"/>
                  <a:sym typeface="TT Interphases Bold"/>
                </a:rPr>
                <a:t>The graph shows a clear trend</a:t>
              </a:r>
            </a:p>
            <a:p>
              <a:pPr algn="ctr" marL="0" indent="0" lvl="0">
                <a:lnSpc>
                  <a:spcPts val="2928"/>
                </a:lnSpc>
              </a:pPr>
            </a:p>
            <a:p>
              <a:pPr algn="ctr" marL="0" indent="0" lvl="0">
                <a:lnSpc>
                  <a:spcPts val="2928"/>
                </a:lnSpc>
              </a:pPr>
              <a:r>
                <a:rPr lang="en-US" b="true" sz="2092" strike="noStrike">
                  <a:solidFill>
                    <a:srgbClr val="000000"/>
                  </a:solidFill>
                  <a:latin typeface="TT Interphases Bold"/>
                  <a:ea typeface="TT Interphases Bold"/>
                  <a:cs typeface="TT Interphases Bold"/>
                  <a:sym typeface="TT Interphases Bold"/>
                </a:rPr>
                <a:t>The prediction is quite accurate</a:t>
              </a:r>
            </a:p>
            <a:p>
              <a:pPr algn="ctr" marL="0" indent="0" lvl="0">
                <a:lnSpc>
                  <a:spcPts val="2928"/>
                </a:lnSpc>
              </a:pPr>
            </a:p>
            <a:p>
              <a:pPr algn="ctr" marL="0" indent="0" lvl="0">
                <a:lnSpc>
                  <a:spcPts val="2928"/>
                </a:lnSpc>
              </a:pPr>
              <a:r>
                <a:rPr lang="en-US" b="true" sz="2092" strike="noStrike">
                  <a:solidFill>
                    <a:srgbClr val="000000"/>
                  </a:solidFill>
                  <a:latin typeface="TT Interphases Bold"/>
                  <a:ea typeface="TT Interphases Bold"/>
                  <a:cs typeface="TT Interphases Bold"/>
                  <a:sym typeface="TT Interphases Bold"/>
                </a:rPr>
                <a:t>Useful for investors</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271999" y="271999"/>
            <a:ext cx="7908899" cy="9743002"/>
            <a:chOff x="0" y="0"/>
            <a:chExt cx="812800" cy="1001291"/>
          </a:xfrm>
        </p:grpSpPr>
        <p:sp>
          <p:nvSpPr>
            <p:cNvPr name="Freeform 3" id="3"/>
            <p:cNvSpPr/>
            <p:nvPr/>
          </p:nvSpPr>
          <p:spPr>
            <a:xfrm flipH="false" flipV="false" rot="0">
              <a:off x="0" y="0"/>
              <a:ext cx="812800" cy="1001291"/>
            </a:xfrm>
            <a:custGeom>
              <a:avLst/>
              <a:gdLst/>
              <a:ahLst/>
              <a:cxnLst/>
              <a:rect r="r" b="b" t="t" l="l"/>
              <a:pathLst>
                <a:path h="1001291" w="812800">
                  <a:moveTo>
                    <a:pt x="0" y="0"/>
                  </a:moveTo>
                  <a:lnTo>
                    <a:pt x="812800" y="0"/>
                  </a:lnTo>
                  <a:lnTo>
                    <a:pt x="812800" y="1001291"/>
                  </a:lnTo>
                  <a:lnTo>
                    <a:pt x="0" y="1001291"/>
                  </a:lnTo>
                  <a:close/>
                </a:path>
              </a:pathLst>
            </a:custGeom>
            <a:blipFill>
              <a:blip r:embed="rId2"/>
              <a:stretch>
                <a:fillRect l="0" t="-10919" r="0" b="-10919"/>
              </a:stretch>
            </a:blipFill>
          </p:spPr>
        </p:sp>
      </p:grpSp>
      <p:grpSp>
        <p:nvGrpSpPr>
          <p:cNvPr name="Group 4" id="4"/>
          <p:cNvGrpSpPr/>
          <p:nvPr/>
        </p:nvGrpSpPr>
        <p:grpSpPr>
          <a:xfrm rot="0">
            <a:off x="9256123" y="1894483"/>
            <a:ext cx="8384422" cy="6502263"/>
            <a:chOff x="0" y="0"/>
            <a:chExt cx="11179230" cy="8669684"/>
          </a:xfrm>
        </p:grpSpPr>
        <p:sp>
          <p:nvSpPr>
            <p:cNvPr name="TextBox 5" id="5"/>
            <p:cNvSpPr txBox="true"/>
            <p:nvPr/>
          </p:nvSpPr>
          <p:spPr>
            <a:xfrm rot="0">
              <a:off x="161667" y="-9525"/>
              <a:ext cx="11017563" cy="1838325"/>
            </a:xfrm>
            <a:prstGeom prst="rect">
              <a:avLst/>
            </a:prstGeom>
          </p:spPr>
          <p:txBody>
            <a:bodyPr anchor="t" rtlCol="false" tIns="0" lIns="0" bIns="0" rIns="0">
              <a:spAutoFit/>
            </a:bodyPr>
            <a:lstStyle/>
            <a:p>
              <a:pPr algn="l" marL="0" indent="0" lvl="0">
                <a:lnSpc>
                  <a:spcPts val="10800"/>
                </a:lnSpc>
              </a:pPr>
              <a:r>
                <a:rPr lang="en-US" b="true" sz="9000">
                  <a:solidFill>
                    <a:srgbClr val="FFFFFF"/>
                  </a:solidFill>
                  <a:latin typeface="TT Interphases Bold"/>
                  <a:ea typeface="TT Interphases Bold"/>
                  <a:cs typeface="TT Interphases Bold"/>
                  <a:sym typeface="TT Interphases Bold"/>
                </a:rPr>
                <a:t>FUTURE WORK</a:t>
              </a:r>
            </a:p>
          </p:txBody>
        </p:sp>
        <p:sp>
          <p:nvSpPr>
            <p:cNvPr name="TextBox 6" id="6"/>
            <p:cNvSpPr txBox="true"/>
            <p:nvPr/>
          </p:nvSpPr>
          <p:spPr>
            <a:xfrm rot="0">
              <a:off x="161667" y="2738489"/>
              <a:ext cx="11017563" cy="5931195"/>
            </a:xfrm>
            <a:prstGeom prst="rect">
              <a:avLst/>
            </a:prstGeom>
          </p:spPr>
          <p:txBody>
            <a:bodyPr anchor="t" rtlCol="false" tIns="0" lIns="0" bIns="0" rIns="0">
              <a:spAutoFit/>
            </a:bodyPr>
            <a:lstStyle/>
            <a:p>
              <a:pPr algn="l" marL="533884" indent="-266942" lvl="1">
                <a:lnSpc>
                  <a:spcPts val="3214"/>
                </a:lnSpc>
                <a:buFont typeface="Arial"/>
                <a:buChar char="•"/>
              </a:pPr>
              <a:r>
                <a:rPr lang="en-US" b="true" sz="2472">
                  <a:solidFill>
                    <a:srgbClr val="FFFFFF"/>
                  </a:solidFill>
                  <a:latin typeface="TT Interphases Bold"/>
                  <a:ea typeface="TT Interphases Bold"/>
                  <a:cs typeface="TT Interphases Bold"/>
                  <a:sym typeface="TT Interphases Bold"/>
                </a:rPr>
                <a:t>In t</a:t>
              </a:r>
              <a:r>
                <a:rPr lang="en-US" b="true" sz="2472">
                  <a:solidFill>
                    <a:srgbClr val="FFFFFF"/>
                  </a:solidFill>
                  <a:latin typeface="TT Interphases Bold"/>
                  <a:ea typeface="TT Interphases Bold"/>
                  <a:cs typeface="TT Interphases Bold"/>
                  <a:sym typeface="TT Interphases Bold"/>
                </a:rPr>
                <a:t>he future, this pr</a:t>
              </a:r>
              <a:r>
                <a:rPr lang="en-US" b="true" sz="2472" strike="noStrike">
                  <a:solidFill>
                    <a:srgbClr val="FFFFFF"/>
                  </a:solidFill>
                  <a:latin typeface="TT Interphases Bold"/>
                  <a:ea typeface="TT Interphases Bold"/>
                  <a:cs typeface="TT Interphases Bold"/>
                  <a:sym typeface="TT Interphases Bold"/>
                </a:rPr>
                <a:t>oject can predict stock prices for multiple days instead of just one day.</a:t>
              </a:r>
            </a:p>
            <a:p>
              <a:pPr algn="l" marL="533884" indent="-266942" lvl="1">
                <a:lnSpc>
                  <a:spcPts val="3214"/>
                </a:lnSpc>
                <a:buFont typeface="Arial"/>
                <a:buChar char="•"/>
              </a:pPr>
              <a:r>
                <a:rPr lang="en-US" b="true" sz="2472">
                  <a:solidFill>
                    <a:srgbClr val="FFFFFF"/>
                  </a:solidFill>
                  <a:latin typeface="TT Interphases Bold"/>
                  <a:ea typeface="TT Interphases Bold"/>
                  <a:cs typeface="TT Interphases Bold"/>
                  <a:sym typeface="TT Interphases Bold"/>
                </a:rPr>
                <a:t>It can be imp</a:t>
              </a:r>
              <a:r>
                <a:rPr lang="en-US" b="true" sz="2472" strike="noStrike">
                  <a:solidFill>
                    <a:srgbClr val="FFFFFF"/>
                  </a:solidFill>
                  <a:latin typeface="TT Interphases Bold"/>
                  <a:ea typeface="TT Interphases Bold"/>
                  <a:cs typeface="TT Interphases Bold"/>
                  <a:sym typeface="TT Interphases Bold"/>
                </a:rPr>
                <a:t>roved to give more accurate results using better models.</a:t>
              </a:r>
            </a:p>
            <a:p>
              <a:pPr algn="l" marL="533884" indent="-266942" lvl="1">
                <a:lnSpc>
                  <a:spcPts val="3214"/>
                </a:lnSpc>
                <a:buFont typeface="Arial"/>
                <a:buChar char="•"/>
              </a:pPr>
              <a:r>
                <a:rPr lang="en-US" b="true" sz="2472" strike="noStrike">
                  <a:solidFill>
                    <a:srgbClr val="FFFFFF"/>
                  </a:solidFill>
                  <a:latin typeface="TT Interphases Bold"/>
                  <a:ea typeface="TT Interphases Bold"/>
                  <a:cs typeface="TT Interphases Bold"/>
                  <a:sym typeface="TT Interphases Bold"/>
                </a:rPr>
                <a:t>Real-time data can be added for live predictions.</a:t>
              </a:r>
            </a:p>
            <a:p>
              <a:pPr algn="l" marL="533884" indent="-266942" lvl="1">
                <a:lnSpc>
                  <a:spcPts val="3214"/>
                </a:lnSpc>
                <a:buFont typeface="Arial"/>
                <a:buChar char="•"/>
              </a:pPr>
              <a:r>
                <a:rPr lang="en-US" b="true" sz="2472">
                  <a:solidFill>
                    <a:srgbClr val="FFFFFF"/>
                  </a:solidFill>
                  <a:latin typeface="TT Interphases Bold"/>
                  <a:ea typeface="TT Interphases Bold"/>
                  <a:cs typeface="TT Interphases Bold"/>
                  <a:sym typeface="TT Interphases Bold"/>
                </a:rPr>
                <a:t>More compani</a:t>
              </a:r>
              <a:r>
                <a:rPr lang="en-US" b="true" sz="2472" strike="noStrike">
                  <a:solidFill>
                    <a:srgbClr val="FFFFFF"/>
                  </a:solidFill>
                  <a:latin typeface="TT Interphases Bold"/>
                  <a:ea typeface="TT Interphases Bold"/>
                  <a:cs typeface="TT Interphases Bold"/>
                  <a:sym typeface="TT Interphases Bold"/>
                </a:rPr>
                <a:t>es and global stocks can be included.</a:t>
              </a:r>
            </a:p>
            <a:p>
              <a:pPr algn="l" marL="533884" indent="-266942" lvl="1">
                <a:lnSpc>
                  <a:spcPts val="3214"/>
                </a:lnSpc>
                <a:buFont typeface="Arial"/>
                <a:buChar char="•"/>
              </a:pPr>
              <a:r>
                <a:rPr lang="en-US" b="true" sz="2472" strike="noStrike">
                  <a:solidFill>
                    <a:srgbClr val="FFFFFF"/>
                  </a:solidFill>
                  <a:latin typeface="TT Interphases Bold"/>
                  <a:ea typeface="TT Interphases Bold"/>
                  <a:cs typeface="TT Interphases Bold"/>
                  <a:sym typeface="TT Interphases Bold"/>
                </a:rPr>
                <a:t>The system can give smart buy/sell suggestions to users.</a:t>
              </a:r>
            </a:p>
            <a:p>
              <a:pPr algn="l" marL="533884" indent="-266942" lvl="1">
                <a:lnSpc>
                  <a:spcPts val="3214"/>
                </a:lnSpc>
                <a:buFont typeface="Arial"/>
                <a:buChar char="•"/>
              </a:pPr>
              <a:r>
                <a:rPr lang="en-US" b="true" sz="2472" strike="noStrike">
                  <a:solidFill>
                    <a:srgbClr val="FFFFFF"/>
                  </a:solidFill>
                  <a:latin typeface="TT Interphases Bold"/>
                  <a:ea typeface="TT Interphases Bold"/>
                  <a:cs typeface="TT Interphases Bold"/>
                  <a:sym typeface="TT Interphases Bold"/>
                </a:rPr>
                <a:t>It can be converted into a mobile or web application for real users.</a:t>
              </a:r>
            </a:p>
            <a:p>
              <a:pPr algn="l" marL="0" indent="0" lvl="0">
                <a:lnSpc>
                  <a:spcPts val="3214"/>
                </a:lnSpc>
              </a:pPr>
            </a:p>
          </p:txBody>
        </p:sp>
        <p:sp>
          <p:nvSpPr>
            <p:cNvPr name="AutoShape 7" id="7"/>
            <p:cNvSpPr/>
            <p:nvPr/>
          </p:nvSpPr>
          <p:spPr>
            <a:xfrm>
              <a:off x="0" y="2249853"/>
              <a:ext cx="11179230" cy="0"/>
            </a:xfrm>
            <a:prstGeom prst="line">
              <a:avLst/>
            </a:prstGeom>
            <a:ln cap="flat" w="139700">
              <a:solidFill>
                <a:srgbClr val="FFFFFF"/>
              </a:solidFill>
              <a:prstDash val="solid"/>
              <a:headEnd type="none" len="sm" w="sm"/>
              <a:tailEnd type="none" len="sm" w="sm"/>
            </a:ln>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descr="Modern Gradient Shape"/>
          <p:cNvSpPr/>
          <p:nvPr/>
        </p:nvSpPr>
        <p:spPr>
          <a:xfrm flipH="true" flipV="false" rot="0">
            <a:off x="-787660" y="2879325"/>
            <a:ext cx="19314877" cy="7585479"/>
          </a:xfrm>
          <a:custGeom>
            <a:avLst/>
            <a:gdLst/>
            <a:ahLst/>
            <a:cxnLst/>
            <a:rect r="r" b="b" t="t" l="l"/>
            <a:pathLst>
              <a:path h="7585479" w="19314877">
                <a:moveTo>
                  <a:pt x="19314877" y="0"/>
                </a:moveTo>
                <a:lnTo>
                  <a:pt x="0" y="0"/>
                </a:lnTo>
                <a:lnTo>
                  <a:pt x="0" y="7585479"/>
                </a:lnTo>
                <a:lnTo>
                  <a:pt x="19314877" y="7585479"/>
                </a:lnTo>
                <a:lnTo>
                  <a:pt x="19314877" y="0"/>
                </a:lnTo>
                <a:close/>
              </a:path>
            </a:pathLst>
          </a:custGeom>
          <a:blipFill>
            <a:blip r:embed="rId2">
              <a:alphaModFix amt="70000"/>
            </a:blip>
            <a:stretch>
              <a:fillRect l="0" t="0" r="0" b="0"/>
            </a:stretch>
          </a:blipFill>
        </p:spPr>
      </p:sp>
      <p:sp>
        <p:nvSpPr>
          <p:cNvPr name="Freeform 3" id="3"/>
          <p:cNvSpPr/>
          <p:nvPr/>
        </p:nvSpPr>
        <p:spPr>
          <a:xfrm flipH="false" flipV="false" rot="0">
            <a:off x="570712" y="271999"/>
            <a:ext cx="7311473" cy="9743002"/>
          </a:xfrm>
          <a:custGeom>
            <a:avLst/>
            <a:gdLst/>
            <a:ahLst/>
            <a:cxnLst/>
            <a:rect r="r" b="b" t="t" l="l"/>
            <a:pathLst>
              <a:path h="9743002" w="7311473">
                <a:moveTo>
                  <a:pt x="0" y="0"/>
                </a:moveTo>
                <a:lnTo>
                  <a:pt x="7311473" y="0"/>
                </a:lnTo>
                <a:lnTo>
                  <a:pt x="7311473" y="9743002"/>
                </a:lnTo>
                <a:lnTo>
                  <a:pt x="0" y="9743002"/>
                </a:lnTo>
                <a:lnTo>
                  <a:pt x="0" y="0"/>
                </a:lnTo>
                <a:close/>
              </a:path>
            </a:pathLst>
          </a:custGeom>
          <a:blipFill>
            <a:blip r:embed="rId3"/>
            <a:stretch>
              <a:fillRect l="0" t="0" r="0" b="0"/>
            </a:stretch>
          </a:blipFill>
        </p:spPr>
      </p:sp>
      <p:grpSp>
        <p:nvGrpSpPr>
          <p:cNvPr name="Group 4" id="4"/>
          <p:cNvGrpSpPr/>
          <p:nvPr/>
        </p:nvGrpSpPr>
        <p:grpSpPr>
          <a:xfrm rot="0">
            <a:off x="9256123" y="2508373"/>
            <a:ext cx="8384422" cy="5008998"/>
            <a:chOff x="0" y="0"/>
            <a:chExt cx="11179230" cy="6678664"/>
          </a:xfrm>
        </p:grpSpPr>
        <p:sp>
          <p:nvSpPr>
            <p:cNvPr name="TextBox 5" id="5"/>
            <p:cNvSpPr txBox="true"/>
            <p:nvPr/>
          </p:nvSpPr>
          <p:spPr>
            <a:xfrm rot="0">
              <a:off x="161667" y="-9525"/>
              <a:ext cx="10356836" cy="1838325"/>
            </a:xfrm>
            <a:prstGeom prst="rect">
              <a:avLst/>
            </a:prstGeom>
          </p:spPr>
          <p:txBody>
            <a:bodyPr anchor="t" rtlCol="false" tIns="0" lIns="0" bIns="0" rIns="0">
              <a:spAutoFit/>
            </a:bodyPr>
            <a:lstStyle/>
            <a:p>
              <a:pPr algn="l" marL="0" indent="0" lvl="0">
                <a:lnSpc>
                  <a:spcPts val="10800"/>
                </a:lnSpc>
              </a:pPr>
              <a:r>
                <a:rPr lang="en-US" b="true" sz="9000">
                  <a:solidFill>
                    <a:srgbClr val="FFFFFF"/>
                  </a:solidFill>
                  <a:latin typeface="TT Interphases Bold"/>
                  <a:ea typeface="TT Interphases Bold"/>
                  <a:cs typeface="TT Interphases Bold"/>
                  <a:sym typeface="TT Interphases Bold"/>
                </a:rPr>
                <a:t>Conclusion</a:t>
              </a:r>
            </a:p>
          </p:txBody>
        </p:sp>
        <p:sp>
          <p:nvSpPr>
            <p:cNvPr name="TextBox 6" id="6"/>
            <p:cNvSpPr txBox="true"/>
            <p:nvPr/>
          </p:nvSpPr>
          <p:spPr>
            <a:xfrm rot="0">
              <a:off x="161667" y="2728964"/>
              <a:ext cx="10356836" cy="3949700"/>
            </a:xfrm>
            <a:prstGeom prst="rect">
              <a:avLst/>
            </a:prstGeom>
          </p:spPr>
          <p:txBody>
            <a:bodyPr anchor="t" rtlCol="false" tIns="0" lIns="0" bIns="0" rIns="0">
              <a:spAutoFit/>
            </a:bodyPr>
            <a:lstStyle/>
            <a:p>
              <a:pPr algn="l" marL="647700" indent="-323850" lvl="1">
                <a:lnSpc>
                  <a:spcPts val="3900"/>
                </a:lnSpc>
                <a:buFont typeface="Arial"/>
                <a:buChar char="•"/>
              </a:pPr>
              <a:r>
                <a:rPr lang="en-US" b="true" sz="3000">
                  <a:solidFill>
                    <a:srgbClr val="FFFFFF"/>
                  </a:solidFill>
                  <a:latin typeface="TT Interphases Bold"/>
                  <a:ea typeface="TT Interphases Bold"/>
                  <a:cs typeface="TT Interphases Bold"/>
                  <a:sym typeface="TT Interphases Bold"/>
                </a:rPr>
                <a:t>This project makes stock prediction simple</a:t>
              </a:r>
            </a:p>
            <a:p>
              <a:pPr algn="l" marL="647700" indent="-323850" lvl="1">
                <a:lnSpc>
                  <a:spcPts val="3900"/>
                </a:lnSpc>
                <a:buFont typeface="Arial"/>
                <a:buChar char="•"/>
              </a:pPr>
              <a:r>
                <a:rPr lang="en-US" b="true" sz="3000">
                  <a:solidFill>
                    <a:srgbClr val="FFFFFF"/>
                  </a:solidFill>
                  <a:latin typeface="TT Interphases Bold"/>
                  <a:ea typeface="TT Interphases Bold"/>
                  <a:cs typeface="TT Interphases Bold"/>
                  <a:sym typeface="TT Interphases Bold"/>
                </a:rPr>
                <a:t>It saves time and effort</a:t>
              </a:r>
            </a:p>
            <a:p>
              <a:pPr algn="l" marL="647700" indent="-323850" lvl="1">
                <a:lnSpc>
                  <a:spcPts val="3900"/>
                </a:lnSpc>
                <a:buFont typeface="Arial"/>
                <a:buChar char="•"/>
              </a:pPr>
              <a:r>
                <a:rPr lang="en-US" b="true" sz="3000">
                  <a:solidFill>
                    <a:srgbClr val="FFFFFF"/>
                  </a:solidFill>
                  <a:latin typeface="TT Interphases Bold"/>
                  <a:ea typeface="TT Interphases Bold"/>
                  <a:cs typeface="TT Interphases Bold"/>
                  <a:sym typeface="TT Interphases Bold"/>
                </a:rPr>
                <a:t>Gives quick results</a:t>
              </a:r>
            </a:p>
            <a:p>
              <a:pPr algn="l" marL="647700" indent="-323850" lvl="1">
                <a:lnSpc>
                  <a:spcPts val="3900"/>
                </a:lnSpc>
                <a:buFont typeface="Arial"/>
                <a:buChar char="•"/>
              </a:pPr>
              <a:r>
                <a:rPr lang="en-US" b="true" sz="3000">
                  <a:solidFill>
                    <a:srgbClr val="FFFFFF"/>
                  </a:solidFill>
                  <a:latin typeface="TT Interphases Bold"/>
                  <a:ea typeface="TT Interphases Bold"/>
                  <a:cs typeface="TT Interphases Bold"/>
                  <a:sym typeface="TT Interphases Bold"/>
                </a:rPr>
                <a:t>Easy to use and understand</a:t>
              </a:r>
            </a:p>
            <a:p>
              <a:pPr algn="l" marL="647700" indent="-323850" lvl="1">
                <a:lnSpc>
                  <a:spcPts val="3900"/>
                </a:lnSpc>
                <a:buFont typeface="Arial"/>
                <a:buChar char="•"/>
              </a:pPr>
              <a:r>
                <a:rPr lang="en-US" b="true" sz="3000">
                  <a:solidFill>
                    <a:srgbClr val="FFFFFF"/>
                  </a:solidFill>
                  <a:latin typeface="TT Interphases Bold"/>
                  <a:ea typeface="TT Interphases Bold"/>
                  <a:cs typeface="TT Interphases Bold"/>
                  <a:sym typeface="TT Interphases Bold"/>
                </a:rPr>
                <a:t>Helpful for making better decisions</a:t>
              </a:r>
            </a:p>
          </p:txBody>
        </p:sp>
        <p:sp>
          <p:nvSpPr>
            <p:cNvPr name="AutoShape 7" id="7"/>
            <p:cNvSpPr/>
            <p:nvPr/>
          </p:nvSpPr>
          <p:spPr>
            <a:xfrm>
              <a:off x="0" y="2249853"/>
              <a:ext cx="11179230" cy="0"/>
            </a:xfrm>
            <a:prstGeom prst="line">
              <a:avLst/>
            </a:prstGeom>
            <a:ln cap="flat" w="139700">
              <a:solidFill>
                <a:srgbClr val="000000"/>
              </a:solidFill>
              <a:prstDash val="solid"/>
              <a:headEnd type="none" len="sm" w="sm"/>
              <a:tailEnd type="none" len="sm" w="sm"/>
            </a:ln>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63860" y="5616373"/>
            <a:ext cx="19314877" cy="7585479"/>
          </a:xfrm>
          <a:custGeom>
            <a:avLst/>
            <a:gdLst/>
            <a:ahLst/>
            <a:cxnLst/>
            <a:rect r="r" b="b" t="t" l="l"/>
            <a:pathLst>
              <a:path h="7585479" w="19314877">
                <a:moveTo>
                  <a:pt x="0" y="0"/>
                </a:moveTo>
                <a:lnTo>
                  <a:pt x="19314878" y="0"/>
                </a:lnTo>
                <a:lnTo>
                  <a:pt x="19314878" y="7585479"/>
                </a:lnTo>
                <a:lnTo>
                  <a:pt x="0" y="7585479"/>
                </a:lnTo>
                <a:lnTo>
                  <a:pt x="0" y="0"/>
                </a:lnTo>
                <a:close/>
              </a:path>
            </a:pathLst>
          </a:custGeom>
          <a:blipFill>
            <a:blip r:embed="rId2"/>
            <a:stretch>
              <a:fillRect l="0" t="0" r="0" b="0"/>
            </a:stretch>
          </a:blipFill>
        </p:spPr>
      </p:sp>
      <p:sp>
        <p:nvSpPr>
          <p:cNvPr name="TextBox 3" id="3"/>
          <p:cNvSpPr txBox="true"/>
          <p:nvPr/>
        </p:nvSpPr>
        <p:spPr>
          <a:xfrm rot="0">
            <a:off x="2641477" y="1386831"/>
            <a:ext cx="7451675" cy="3756669"/>
          </a:xfrm>
          <a:prstGeom prst="rect">
            <a:avLst/>
          </a:prstGeom>
        </p:spPr>
        <p:txBody>
          <a:bodyPr anchor="t" rtlCol="false" tIns="0" lIns="0" bIns="0" rIns="0">
            <a:spAutoFit/>
          </a:bodyPr>
          <a:lstStyle/>
          <a:p>
            <a:pPr algn="l" marL="0" indent="0" lvl="0">
              <a:lnSpc>
                <a:spcPts val="14380"/>
              </a:lnSpc>
            </a:pPr>
            <a:r>
              <a:rPr lang="en-US" b="true" sz="14673">
                <a:solidFill>
                  <a:srgbClr val="FFFFFF"/>
                </a:solidFill>
                <a:latin typeface="TT Interphases Bold"/>
                <a:ea typeface="TT Interphases Bold"/>
                <a:cs typeface="TT Interphases Bold"/>
                <a:sym typeface="TT Interphases Bold"/>
              </a:rPr>
              <a:t>THANK YOU!</a:t>
            </a:r>
          </a:p>
        </p:txBody>
      </p:sp>
      <p:sp>
        <p:nvSpPr>
          <p:cNvPr name="Freeform 4" id="4"/>
          <p:cNvSpPr/>
          <p:nvPr/>
        </p:nvSpPr>
        <p:spPr>
          <a:xfrm flipH="false" flipV="false" rot="0">
            <a:off x="7164763" y="3162550"/>
            <a:ext cx="2815304" cy="1980950"/>
          </a:xfrm>
          <a:custGeom>
            <a:avLst/>
            <a:gdLst/>
            <a:ahLst/>
            <a:cxnLst/>
            <a:rect r="r" b="b" t="t" l="l"/>
            <a:pathLst>
              <a:path h="1980950" w="2815304">
                <a:moveTo>
                  <a:pt x="0" y="0"/>
                </a:moveTo>
                <a:lnTo>
                  <a:pt x="2815304" y="0"/>
                </a:lnTo>
                <a:lnTo>
                  <a:pt x="2815304" y="1980950"/>
                </a:lnTo>
                <a:lnTo>
                  <a:pt x="0" y="19809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332641" y="1258897"/>
            <a:ext cx="5985822" cy="8912874"/>
          </a:xfrm>
          <a:custGeom>
            <a:avLst/>
            <a:gdLst/>
            <a:ahLst/>
            <a:cxnLst/>
            <a:rect r="r" b="b" t="t" l="l"/>
            <a:pathLst>
              <a:path h="8912874" w="5985822">
                <a:moveTo>
                  <a:pt x="0" y="0"/>
                </a:moveTo>
                <a:lnTo>
                  <a:pt x="5985822" y="0"/>
                </a:lnTo>
                <a:lnTo>
                  <a:pt x="5985822" y="8912874"/>
                </a:lnTo>
                <a:lnTo>
                  <a:pt x="0" y="8912874"/>
                </a:lnTo>
                <a:lnTo>
                  <a:pt x="0" y="0"/>
                </a:lnTo>
                <a:close/>
              </a:path>
            </a:pathLst>
          </a:custGeom>
          <a:blipFill>
            <a:blip r:embed="rId5"/>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DAHF-D0iZl8</dc:identifier>
  <dcterms:modified xsi:type="dcterms:W3CDTF">2011-08-01T06:04:30Z</dcterms:modified>
  <cp:revision>1</cp:revision>
  <dc:title>Stock Price Prediction</dc:title>
</cp:coreProperties>
</file>